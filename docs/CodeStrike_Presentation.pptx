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YASSH (Speaker 1):</a:t>
            </a:r>
          </a:p>
          <a:p>
            <a:r>
              <a:t>"Good morning everyone. Today we're presenting CodeStrike — a security benchmark that answers one critical question: When AI writes code, is that code secure?</a:t>
            </a:r>
          </a:p>
          <a:p/>
          <a:p>
            <a:r>
              <a:t>We all know AI code generation is exploding — GitHub Copilot, ChatGPT, Claude. Developers are using AI to write production code every day. But nobody has systematically tested whether that code is actually safe.</a:t>
            </a:r>
          </a:p>
          <a:p/>
          <a:p>
            <a:r>
              <a:t>That's what CodeStrike does. We took 15 AI models, asked each one to build web applications, then attacked those applications with real exploit payloads to find vulnerabilities. What we found is... not great. Let me walk you through it."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YASSH:</a:t>
            </a:r>
          </a:p>
          <a:p>
            <a:r>
              <a:t>"Here's our agenda. We'll cover the full penetration testing lifecycle applied to AI-generated code. I'll start with scope and objectives, Alex will cover reconnaissance and scanning, Jordan handles exploitation, and [Member 4] wraps up with summary and our live dashboard demo.</a:t>
            </a:r>
          </a:p>
          <a:p/>
          <a:p>
            <a:r>
              <a:t>The unique thing about our project is that our 'target' isn't one application — it's 4,505 applications generated by 15 different AI models. Let's dive in."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YASSH:</a:t>
            </a:r>
          </a:p>
          <a:p>
            <a:r>
              <a:t>"Here's the problem. 97% of developers now use AI coding tools. But less than 30% of AI-generated code gets a proper security review. Everyone assumes if the code works, it's fine. But working code and secure code are very different things.</a:t>
            </a:r>
          </a:p>
          <a:p/>
          <a:p>
            <a:r>
              <a:t>BaxBench from ICML 2025 was the first attempt at systematically testing AI code security. We took it as our foundation, extended it significantly — more scenarios, more CWEs, more exploit vectors, more models — and created CodeStrike."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YASSH:</a:t>
            </a:r>
          </a:p>
          <a:p>
            <a:r>
              <a:t>"Our domain is web application security — specifically, REST API backends generated by AI. We test in three frameworks: Python Flask, JavaScript Express, and Go Fiber.</a:t>
            </a:r>
          </a:p>
          <a:p/>
          <a:p>
            <a:r>
              <a:t>Our unique contribution over the original BaxBench is significant. We added 7 new scenarios targeting OWASP Top 10 2025 — things like SSRF, IDOR, XXE that the original didn't test. We expanded from 23 to 38 CWE types. We went from 2 XSS test vectors to 25 — including polyglot payloads and encoding bypasses.</a:t>
            </a:r>
          </a:p>
          <a:p/>
          <a:p>
            <a:r>
              <a:t>And critically, we discovered and fixed a measurement bug in the original benchmark where crashed code was counted as 'secure.' We'll show you how this inflated security rates from 94% down to the real number of 4.4%."</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YASSH:</a:t>
            </a:r>
          </a:p>
          <a:p>
            <a:r>
              <a:t>"We mapped all 38 CWEs to the OWASP Top 10 2025 — the latest revision. We cover all 10 categories. The red items are categories where we found vulnerabilities. The grey ones came back clean — but two of those couldn't be properly tested because the security tests crashed 70% of the time.</a:t>
            </a:r>
          </a:p>
          <a:p/>
          <a:p>
            <a:r>
              <a:t>In total: 38 CWE types monitored, 18 actually found, 2,295 total vulnerability occurrences across 4,505 tests. The dominant failure is A05 Security Misconfiguration with 1,456 findings — almost all missing security headers."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YASSH:</a:t>
            </a:r>
          </a:p>
          <a:p>
            <a:r>
              <a:t>"Our goals were comprehensive. We wanted to test every major vulnerability category against AI code at scale. 4,505 tests across 15 models, 35 scenarios, and 38 CWE types.</a:t>
            </a:r>
          </a:p>
          <a:p/>
          <a:p>
            <a:r>
              <a:t>But automated testing alone isn't enough. So we validated our results with three layers: CodeStrike's automated tests on all 4,505 apps, OWASP ZAP scanning on 50 selected apps, and manual penetration testing on 10 apps by our team members Alex and Jordan.</a:t>
            </a:r>
          </a:p>
          <a:p/>
          <a:p>
            <a:r>
              <a:t>The key validation metric: CodeStrike has 100% precision — every vulnerability it reports is real. Zero false positives. Now I'll hand over to Alex for reconnaissance."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 (Speaker 2):</a:t>
            </a:r>
          </a:p>
          <a:p>
            <a:r>
              <a:t>"Thanks Yassh. Now let me walk you through our reconnaissance phase.</a:t>
            </a:r>
          </a:p>
          <a:p/>
          <a:p>
            <a:r>
              <a:t>Our target is unique — instead of one application, we're testing thousands of AI-generated apps. Each runs in an isolated Docker container exposing a REST API on port 5000.</a:t>
            </a:r>
          </a:p>
          <a:p/>
          <a:p>
            <a:r>
              <a:t>For passive recon, we studied how AI models handle security. The key finding: models prioritize making code work, not making it secure. They'll implement every API endpoint correctly but forget to add security headers, CSRF tokens, or rate limiting. This informed our attack strategy.</a:t>
            </a:r>
          </a:p>
          <a:p/>
          <a:p>
            <a:r>
              <a:t>For active recon, each app exposes JSON API endpoints. The attack surface is user input through JSON bodies, URL parameters, and headers. Some apps implement JWT auth, some use session cookies, and some have no auth at all — that's already a finding."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t>
            </a:r>
          </a:p>
          <a:p>
            <a:r>
              <a:t>"Each scenario represents a different type of web application with specific vulnerability targets. The original BaxBench had 28 — covering injection, auth, and file handling.</a:t>
            </a:r>
          </a:p>
          <a:p/>
          <a:p>
            <a:r>
              <a:t>We added 7 new scenarios specifically targeting OWASP Top 10 2025 gaps. AdminPanel tests for privilege escalation. LinkPreview tests SSRF — can the app be tricked into accessing internal network resources? XMLImporter tests XXE. PasswordReset tests for weak recovery flows.</a:t>
            </a:r>
          </a:p>
          <a:p/>
          <a:p>
            <a:r>
              <a:t>Each scenario is tested 9 ways: 3 frameworks times 3 safety prompt levels. That's how we get to 4,505 total tests across 15 models."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t>
            </a:r>
          </a:p>
          <a:p>
            <a:r>
              <a:t>"Our toolkit has three layers. First, CodeStrike — our custom Python framework that runs inside the Docker container alongside the app. This is crucial because it can query the database directly, send authenticated requests, and test things like rate limiting that external scanners can't.</a:t>
            </a:r>
          </a:p>
          <a:p/>
          <a:p>
            <a:r>
              <a:t>Second, OWASP ZAP — the industry standard. We tested it in three modes against 50 apps. We'll show you why it only agreed with 14% of our findings.</a:t>
            </a:r>
          </a:p>
          <a:p/>
          <a:p>
            <a:r>
              <a:t>Third, manual pentesting. Jordan and I manually hacked 10 apps using OWASP WSTG methodology with a 107-point checklist. This is our ground truth for measuring accuracy.</a:t>
            </a:r>
          </a:p>
          <a:p/>
          <a:p>
            <a:r>
              <a:t>All apps run in isolated Docker containers to ensure reproducibility."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t>
            </a:r>
          </a:p>
          <a:p>
            <a:r>
              <a:t>"Our scanning approach uses three layers, each adding depth.</a:t>
            </a:r>
          </a:p>
          <a:p/>
          <a:p>
            <a:r>
              <a:t>Layer 1 is CodeStrike automated — 4,505 apps tested with 38 CWE types. It runs inside the Docker container so it can do things like query the SQLite database to check if passwords are hashed properly.</a:t>
            </a:r>
          </a:p>
          <a:p/>
          <a:p>
            <a:r>
              <a:t>Layer 2 is OWASP ZAP — the industry standard. We ran it against 50 apps in three modes. Key finding: ZAP only confirmed 14.3% of our results, not because we're wrong, but because ZAP can't access the database or understand auth logic.</a:t>
            </a:r>
          </a:p>
          <a:p/>
          <a:p>
            <a:r>
              <a:t>Layer 3 is manual pentesting — Alex and I tested 10 apps by hand. This found 47 vulnerabilities across 12 CWE types. This is our ground truth.</a:t>
            </a:r>
          </a:p>
          <a:p/>
          <a:p>
            <a:r>
              <a:t>The validation: CodeStrike has 100% precision — everything it flags is real. Now Jordan will show you the exploitation phase."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JORDAN (Speaker 3):</a:t>
            </a:r>
          </a:p>
          <a:p>
            <a:r>
              <a:t>"Thanks Alex. Now let me show you what happens when we actually attack these apps.</a:t>
            </a:r>
          </a:p>
          <a:p/>
          <a:p>
            <a:r>
              <a:t>This is the security funnel — the most important slide in our presentation. We started with 4,505 AI-generated apps. Here's what happened:</a:t>
            </a:r>
          </a:p>
          <a:p/>
          <a:p>
            <a:r>
              <a:t>71.4% — that's 3,217 apps — crashed. The AI couldn't even write working code. Syntax errors, missing imports, runtime failures. Most AI code doesn't work at all.</a:t>
            </a:r>
          </a:p>
          <a:p/>
          <a:p>
            <a:r>
              <a:t>Of the 1,288 that survived, 88.7% — that's 1,142 — have at least one security vulnerability. We exploited them.</a:t>
            </a:r>
          </a:p>
          <a:p/>
          <a:p>
            <a:r>
              <a:t>Only 146 apps — 3.2% of the total — are both functional AND have zero detected vulnerabilities. And of those, only 31 are truly clean when we require all security tests to have run without crashing.</a:t>
            </a:r>
          </a:p>
          <a:p/>
          <a:p>
            <a:r>
              <a:t>Less than 1% of AI-generated code is truly secure."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JORDAN:</a:t>
            </a:r>
          </a:p>
          <a:p>
            <a:r>
              <a:t>"Here are the actual attack vectors we used. For XSS alone, we have 25 different payloads — from basic script tags to SVG injection, event handlers, and encoding bypasses. The original benchmark only had 2.</a:t>
            </a:r>
          </a:p>
          <a:p/>
          <a:p>
            <a:r>
              <a:t>For SQL injection, another 25 vectors including UNION-based extraction, time-based blind detection, and comment injection. Again, the original had only 8.</a:t>
            </a:r>
          </a:p>
          <a:p/>
          <a:p>
            <a:r>
              <a:t>We also test OS command injection with blind time-based detection, SSRF with cloud metadata endpoints, path traversal with 22 encoding bypass variants, and brute force with rapid request testing.</a:t>
            </a:r>
          </a:p>
          <a:p/>
          <a:p>
            <a:r>
              <a:t>Each of these runs against every endpoint of every app. That's why we find things that ZAP misses — we're sending targeted payloads in the correct format for each API."</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JORDAN:</a:t>
            </a:r>
          </a:p>
          <a:p>
            <a:r>
              <a:t>"Here's what our exploitation found. 18 CWE types, 2,295 total occurrences. The top 7 are shown here.</a:t>
            </a:r>
          </a:p>
          <a:p/>
          <a:p>
            <a:r>
              <a:t>The dominant failure is CWE-693 — missing security headers. 62% of ALL findings. Every AI model systematically skips Content-Security-Policy, X-Frame-Options, and HSTS headers. It's the easiest thing to fix — one line of middleware — but no model does it.</a:t>
            </a:r>
          </a:p>
          <a:p/>
          <a:p>
            <a:r>
              <a:t>CSRF is second at 271. No rate limiting is third at 144. XSS at 116.</a:t>
            </a:r>
          </a:p>
          <a:p/>
          <a:p>
            <a:r>
              <a:t>The fascinating finding: SQL injection is almost ZERO. Only 1 occurrence in 4,505 tests. AI models have been trained on so much code with parameterized queries that they've actually learned to avoid string concatenation in SQL. That's a success story.</a:t>
            </a:r>
          </a:p>
          <a:p/>
          <a:p>
            <a:r>
              <a:t>But for newer, less-documented vulnerabilities — CSRF, rate limiting, session management — they fail consistently."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JORDAN:</a:t>
            </a:r>
          </a:p>
          <a:p>
            <a:r>
              <a:t>"This is our most important finding. We tested three safety prompt levels.</a:t>
            </a:r>
          </a:p>
          <a:p/>
          <a:p>
            <a:r>
              <a:t>No prompt: just 'build this app.' Result: 0.26% sec_pass. Only 4 secure apps out of 1,533 tests. Only 1 model out of 15 produced ANY secure code.</a:t>
            </a:r>
          </a:p>
          <a:p/>
          <a:p>
            <a:r>
              <a:t>Generic prompt: 'build this app, write secure code.' Result: 0.07% — actually WORSE. The vague instruction confuses the model. It tries to add security but does it wrong, breaking functionality without improving security.</a:t>
            </a:r>
          </a:p>
          <a:p/>
          <a:p>
            <a:r>
              <a:t>Specific prompt: 'use bcrypt for passwords, set HttpOnly cookies, implement rate limiting.' Result: 9.73% — a 37x improvement. And among working code, 70.5% is secure — a 141x improvement.</a:t>
            </a:r>
          </a:p>
          <a:p/>
          <a:p>
            <a:r>
              <a:t>141 of our 146 total secure apps come from the specific prompt. The AI knows HOW to write secure code. It just doesn't do it unless you tell it exactly what security measures to implement."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JORDAN:</a:t>
            </a:r>
          </a:p>
          <a:p>
            <a:r>
              <a:t>"Here's our 3-way comparison. This table shows detection rates per vulnerability type.</a:t>
            </a:r>
          </a:p>
          <a:p/>
          <a:p>
            <a:r>
              <a:t>CodeStrike catches headers at 80%, CSRF at 100% when present, and brute force at 25%. But it can't find hardcoded secrets, access control issues, or business logic — those require human reasoning.</a:t>
            </a:r>
          </a:p>
          <a:p/>
          <a:p>
            <a:r>
              <a:t>ZAP can only detect headers. It can't test brute force, can't access the database, can't understand authentication logic. Its XSS scanner injects script tags but our APIs return JSON, so it never detects reflection.</a:t>
            </a:r>
          </a:p>
          <a:p/>
          <a:p>
            <a:r>
              <a:t>Manual testing found everything — but it doesn't scale. That's the trade-off.</a:t>
            </a:r>
          </a:p>
          <a:p/>
          <a:p>
            <a:r>
              <a:t>CodeStrike's architectural advantage: it runs INSIDE the Docker container. It can query SQLite to check if passwords are hashed, send 15 rapid requests to test rate limiting, and create two users to test IDOR. ZAP can only send HTTP requests from outside."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JORDAN:</a:t>
            </a:r>
          </a:p>
          <a:p>
            <a:r>
              <a:t>"We discovered a critical measurement bug. The original benchmark counted crashed apps as 'secure' because if the code crashes, no security tests run, so no CWEs are detected. Zero CWEs looked like 'secure.'</a:t>
            </a:r>
          </a:p>
          <a:p/>
          <a:p>
            <a:r>
              <a:t>This made sonnet-4.5-thinking appear to have a 94% security rate. The truth? 93% of its code crashed. When we fixed the formula to require functional_pass = true, the real rate dropped to 4.4%.</a:t>
            </a:r>
          </a:p>
          <a:p/>
          <a:p>
            <a:r>
              <a:t>We introduced three metrics to address this: sec_pass@1 requires the code to work AND have zero CWEs. true_sec@1 additionally requires all security tests to run cleanly. And Sec(Working) divides only by functional apps — the fairest comparison between models.</a:t>
            </a:r>
          </a:p>
          <a:p/>
          <a:p>
            <a:r>
              <a:t>This is a methodological contribution. Any future benchmark should use these metrics."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(Speaker 4):</a:t>
            </a:r>
          </a:p>
          <a:p>
            <a:r>
              <a:t>"Thanks Jordan. Let me summarize our key findings.</a:t>
            </a:r>
          </a:p>
          <a:p/>
          <a:p>
            <a:r>
              <a:t>Number 1: Less than 1% of AI-generated code is truly secure. That's 31 apps out of 4,505.</a:t>
            </a:r>
          </a:p>
          <a:p/>
          <a:p>
            <a:r>
              <a:t>Number 2: Most AI code doesn't even work. 71% crashes before we can test security.</a:t>
            </a:r>
          </a:p>
          <a:p/>
          <a:p>
            <a:r>
              <a:t>Number 3: This is the actionable finding — specific safety prompts improve security by 37x to 141x. Just telling the AI exactly what security measures to implement makes a massive difference.</a:t>
            </a:r>
          </a:p>
          <a:p/>
          <a:p>
            <a:r>
              <a:t>Number 4: Vague instructions like 'write secure code' are useless — actually worse than nothing.</a:t>
            </a:r>
          </a:p>
          <a:p/>
          <a:p>
            <a:r>
              <a:t>Number 5: Thinking mode, where the AI reasons before coding, doesn't help security at all.</a:t>
            </a:r>
          </a:p>
          <a:p/>
          <a:p>
            <a:r>
              <a:t>Number 6: Express is the only framework where AI consistently writes secure code. 144 of 146 secure apps.</a:t>
            </a:r>
          </a:p>
          <a:p/>
          <a:p>
            <a:r>
              <a:t>Number 7: AI learned to avoid SQL injection but fails at basic configuration.</a:t>
            </a:r>
          </a:p>
          <a:p/>
          <a:p>
            <a:r>
              <a:t>Number 8: We found vulnerabilities in 7 of 10 OWASP categories."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a:t>
            </a:r>
          </a:p>
          <a:p>
            <a:r>
              <a:t>"Based on our findings, here are our recommendations.</a:t>
            </a:r>
          </a:p>
          <a:p/>
          <a:p>
            <a:r>
              <a:t>For developers: Always use specific safety prompts. Don't say 'write secure code' — list every requirement: 'use bcrypt, set HttpOnly, implement rate limiting.' This single change gives you a 141x security improvement.</a:t>
            </a:r>
          </a:p>
          <a:p/>
          <a:p>
            <a:r>
              <a:t>For AI providers: The training gap is clear. Models know parameterized SQL queries but not security headers. Train on middleware patterns, not just coding patterns.</a:t>
            </a:r>
          </a:p>
          <a:p/>
          <a:p>
            <a:r>
              <a:t>For security teams: Treat AI code like untrusted third-party code. Use layered testing. And use true_sec@1 as your metric — not the inflated sec_pass@1.</a:t>
            </a:r>
          </a:p>
          <a:p/>
          <a:p>
            <a:r>
              <a:t>Now let me show you all of this live in our dashboard."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a:t>
            </a:r>
          </a:p>
          <a:p>
            <a:r>
              <a:t>"Now let me switch to our live dashboard. I'll walk you through each page.</a:t>
            </a:r>
          </a:p>
          <a:p/>
          <a:p>
            <a:r>
              <a:t>Demo flow:</a:t>
            </a:r>
          </a:p>
          <a:p>
            <a:r>
              <a:t>1. OVERVIEW: Show the Security Funnel (click through 6 steps). Point out stat cards. Show the Model Ranking table — toggle safety prompts from None (wall of zeros) to Specific (numbers jump).</a:t>
            </a:r>
          </a:p>
          <a:p/>
          <a:p>
            <a:r>
              <a:t>2. MODELS: Click on sonnet-4-standard. Show the radar chart, top vulnerabilities, and the All Results table. Point out the 4 security states: crashed, vulnerable, uncertain, secure.</a:t>
            </a:r>
          </a:p>
          <a:p/>
          <a:p>
            <a:r>
              <a:t>3. VULNERABILITIES: Show the OWASP Top 10 2025 section — expand A03 Injection and A05 Misconfiguration. Show the CWE treemap.</a:t>
            </a:r>
          </a:p>
          <a:p/>
          <a:p>
            <a:r>
              <a:t>4. COMPARE: Go to Safety Prompts tab. Toggle the chart. Show the table with all 3 columns (None/Generic/Specific). Switch to Frameworks tab — toggle from sec_pass to pass@1 to show all bars.</a:t>
            </a:r>
          </a:p>
          <a:p/>
          <a:p>
            <a:r>
              <a:t>5. PENTEST: Show the 3-way comparison table. Show the 'Why CodeStrike Catches More' section."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a:t>
            </a:r>
          </a:p>
          <a:p>
            <a:r>
              <a:t>"Thank you for listening. We're happy to take questions.</a:t>
            </a:r>
          </a:p>
          <a:p/>
          <a:p>
            <a:r>
              <a:t>Expected questions and answers:</a:t>
            </a:r>
          </a:p>
          <a:p/>
          <a:p>
            <a:r>
              <a:t>Q: Why is the security rate so low?</a:t>
            </a:r>
          </a:p>
          <a:p>
            <a:r>
              <a:t>A: Two reasons — 71% crashes + 89% of working code has vulnerabilities. AI focuses on functionality, not security.</a:t>
            </a:r>
          </a:p>
          <a:p/>
          <a:p>
            <a:r>
              <a:t>Q: Isn't 4.4% too low to be useful?</a:t>
            </a:r>
          </a:p>
          <a:p>
            <a:r>
              <a:t>A: With specific safety prompts, 70.5% of working code is secure. The key is HOW you prompt.</a:t>
            </a:r>
          </a:p>
          <a:p/>
          <a:p>
            <a:r>
              <a:t>Q: How do you know CodeStrike is accurate?</a:t>
            </a:r>
          </a:p>
          <a:p>
            <a:r>
              <a:t>A: 100% precision — zero false positives across 10 manually pentested apps.</a:t>
            </a:r>
          </a:p>
          <a:p/>
          <a:p>
            <a:r>
              <a:t>Q: What about the 73% recall gap?</a:t>
            </a:r>
          </a:p>
          <a:p>
            <a:r>
              <a:t>A: Expected for automated tools. Hardcoded creds, IDOR, business logic require human reasoning.</a:t>
            </a:r>
          </a:p>
          <a:p/>
          <a:p>
            <a:r>
              <a:t>Q: Is thinking mode worth the extra cost?</a:t>
            </a:r>
          </a:p>
          <a:p>
            <a:r>
              <a:t>A: No, for security. +0.3 pp is negligible.</a:t>
            </a:r>
          </a:p>
          <a:p/>
          <a:p>
            <a:r>
              <a:t>Q: Main recommendation?</a:t>
            </a:r>
          </a:p>
          <a:p>
            <a:r>
              <a:t>A: Use specific safety prompts. List every security requirement explicitly. 141x improvement."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l">
              <a:defRPr sz="5200" b="1">
                <a:solidFill>
                  <a:srgbClr val="34D399"/>
                </a:solidFill>
                <a:latin typeface="Calibri"/>
              </a:defRPr>
            </a:pPr>
            <a:r>
              <a:t>{/} CodeStrike</a:t>
            </a:r>
          </a:p>
        </p:txBody>
      </p:sp>
      <p:sp>
        <p:nvSpPr>
          <p:cNvPr id="3" name="TextBox 2"/>
          <p:cNvSpPr txBox="1"/>
          <p:nvPr/>
        </p:nvSpPr>
        <p:spPr>
          <a:xfrm>
            <a:off x="914400" y="2560320"/>
            <a:ext cx="10058400" cy="731520"/>
          </a:xfrm>
          <a:prstGeom prst="rect">
            <a:avLst/>
          </a:prstGeom>
          <a:noFill/>
        </p:spPr>
        <p:txBody>
          <a:bodyPr wrap="square">
            <a:spAutoFit/>
          </a:bodyPr>
          <a:lstStyle/>
          <a:p>
            <a:pPr algn="l">
              <a:defRPr sz="2800" b="0">
                <a:solidFill>
                  <a:srgbClr val="F4F4F5"/>
                </a:solidFill>
                <a:latin typeface="Calibri"/>
              </a:defRPr>
            </a:pPr>
            <a:r>
              <a:t>Security Benchmark for AI-Generated Code</a:t>
            </a:r>
          </a:p>
        </p:txBody>
      </p:sp>
      <p:sp>
        <p:nvSpPr>
          <p:cNvPr id="4" name="TextBox 3"/>
          <p:cNvSpPr txBox="1"/>
          <p:nvPr/>
        </p:nvSpPr>
        <p:spPr>
          <a:xfrm>
            <a:off x="914400" y="3474720"/>
            <a:ext cx="10058400" cy="457200"/>
          </a:xfrm>
          <a:prstGeom prst="rect">
            <a:avLst/>
          </a:prstGeom>
          <a:noFill/>
        </p:spPr>
        <p:txBody>
          <a:bodyPr wrap="square">
            <a:spAutoFit/>
          </a:bodyPr>
          <a:lstStyle/>
          <a:p>
            <a:pPr algn="l">
              <a:defRPr sz="2000" b="0">
                <a:solidFill>
                  <a:srgbClr val="FBBF24"/>
                </a:solidFill>
                <a:latin typeface="Calibri"/>
              </a:defRPr>
            </a:pPr>
            <a:r>
              <a:t>Can AI Write Secure Web Applications?</a:t>
            </a:r>
          </a:p>
        </p:txBody>
      </p:sp>
      <p:sp>
        <p:nvSpPr>
          <p:cNvPr id="5" name="TextBox 4"/>
          <p:cNvSpPr txBox="1"/>
          <p:nvPr/>
        </p:nvSpPr>
        <p:spPr>
          <a:xfrm>
            <a:off x="914400" y="4572000"/>
            <a:ext cx="10058400" cy="365760"/>
          </a:xfrm>
          <a:prstGeom prst="rect">
            <a:avLst/>
          </a:prstGeom>
          <a:noFill/>
        </p:spPr>
        <p:txBody>
          <a:bodyPr wrap="square">
            <a:spAutoFit/>
          </a:bodyPr>
          <a:lstStyle/>
          <a:p>
            <a:pPr algn="l">
              <a:defRPr sz="1600" b="0">
                <a:solidFill>
                  <a:srgbClr val="71717A"/>
                </a:solidFill>
                <a:latin typeface="Calibri"/>
              </a:defRPr>
            </a:pPr>
            <a:r>
              <a:t>COMP 4210 Ethical Hacking  |  Group 8  |  April 2026</a:t>
            </a:r>
          </a:p>
        </p:txBody>
      </p:sp>
      <p:sp>
        <p:nvSpPr>
          <p:cNvPr id="6" name="TextBox 5"/>
          <p:cNvSpPr txBox="1"/>
          <p:nvPr/>
        </p:nvSpPr>
        <p:spPr>
          <a:xfrm>
            <a:off x="914400" y="5029200"/>
            <a:ext cx="10058400" cy="365760"/>
          </a:xfrm>
          <a:prstGeom prst="rect">
            <a:avLst/>
          </a:prstGeom>
          <a:noFill/>
        </p:spPr>
        <p:txBody>
          <a:bodyPr wrap="square">
            <a:spAutoFit/>
          </a:bodyPr>
          <a:lstStyle/>
          <a:p>
            <a:pPr algn="l">
              <a:defRPr sz="1400" b="0">
                <a:solidFill>
                  <a:srgbClr val="71717A"/>
                </a:solidFill>
                <a:latin typeface="Calibri"/>
              </a:defRPr>
            </a:pPr>
            <a:r>
              <a:t>Yassh  |  Alex  |  Jordan  |  [Member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Agenda</a:t>
            </a:r>
          </a:p>
        </p:txBody>
      </p:sp>
      <p:sp>
        <p:nvSpPr>
          <p:cNvPr id="3" name="TextBox 2"/>
          <p:cNvSpPr txBox="1"/>
          <p:nvPr/>
        </p:nvSpPr>
        <p:spPr>
          <a:xfrm>
            <a:off x="914400" y="1371600"/>
            <a:ext cx="9144000" cy="4572000"/>
          </a:xfrm>
          <a:prstGeom prst="rect">
            <a:avLst/>
          </a:prstGeom>
          <a:noFill/>
        </p:spPr>
        <p:txBody>
          <a:bodyPr wrap="square">
            <a:spAutoFit/>
          </a:bodyPr>
          <a:lstStyle/>
          <a:p>
            <a:pPr>
              <a:spcAft>
                <a:spcPts val="800"/>
              </a:spcAft>
              <a:defRPr sz="2000">
                <a:solidFill>
                  <a:srgbClr val="A1A1AA"/>
                </a:solidFill>
                <a:latin typeface="Calibri"/>
              </a:defRPr>
            </a:pPr>
            <a:r>
              <a:t>1. Scope &amp; Objectives — What we're testing and why</a:t>
            </a:r>
          </a:p>
          <a:p>
            <a:pPr>
              <a:spcAft>
                <a:spcPts val="800"/>
              </a:spcAft>
              <a:defRPr sz="2000">
                <a:solidFill>
                  <a:srgbClr val="A1A1AA"/>
                </a:solidFill>
                <a:latin typeface="Calibri"/>
              </a:defRPr>
            </a:pPr>
            <a:r>
              <a:t>2. Reconnaissance — Understanding AI-generated code as attack surface</a:t>
            </a:r>
          </a:p>
          <a:p>
            <a:pPr>
              <a:spcAft>
                <a:spcPts val="800"/>
              </a:spcAft>
              <a:defRPr sz="2000">
                <a:solidFill>
                  <a:srgbClr val="A1A1AA"/>
                </a:solidFill>
                <a:latin typeface="Calibri"/>
              </a:defRPr>
            </a:pPr>
            <a:r>
              <a:t>3. Scanning &amp; Enumeration — 3-layer detection approach</a:t>
            </a:r>
          </a:p>
          <a:p>
            <a:pPr>
              <a:spcAft>
                <a:spcPts val="800"/>
              </a:spcAft>
              <a:defRPr sz="2000">
                <a:solidFill>
                  <a:srgbClr val="A1A1AA"/>
                </a:solidFill>
                <a:latin typeface="Calibri"/>
              </a:defRPr>
            </a:pPr>
            <a:r>
              <a:t>4. Exploitation — Attack vectors and results</a:t>
            </a:r>
          </a:p>
          <a:p>
            <a:pPr>
              <a:spcAft>
                <a:spcPts val="800"/>
              </a:spcAft>
              <a:defRPr sz="2000">
                <a:solidFill>
                  <a:srgbClr val="A1A1AA"/>
                </a:solidFill>
                <a:latin typeface="Calibri"/>
              </a:defRPr>
            </a:pPr>
            <a:r>
              <a:t>5. Post-Exploitation — What we found inside vulnerable apps</a:t>
            </a:r>
          </a:p>
          <a:p>
            <a:pPr>
              <a:spcAft>
                <a:spcPts val="800"/>
              </a:spcAft>
              <a:defRPr sz="2000">
                <a:solidFill>
                  <a:srgbClr val="A1A1AA"/>
                </a:solidFill>
                <a:latin typeface="Calibri"/>
              </a:defRPr>
            </a:pPr>
            <a:r>
              <a:t>6. Summary &amp; Recommendations — Key findings and mitigations</a:t>
            </a:r>
          </a:p>
          <a:p>
            <a:pPr>
              <a:spcAft>
                <a:spcPts val="800"/>
              </a:spcAft>
              <a:defRPr sz="2000">
                <a:solidFill>
                  <a:srgbClr val="A1A1AA"/>
                </a:solidFill>
                <a:latin typeface="Calibri"/>
              </a:defRPr>
            </a:pPr>
            <a:r>
              <a:t>7. Live Dashboard Demo — Interactive walkthrough of results</a:t>
            </a:r>
          </a:p>
        </p:txBody>
      </p:sp>
      <p:sp>
        <p:nvSpPr>
          <p:cNvPr id="4" name="TextBox 3"/>
          <p:cNvSpPr txBox="1"/>
          <p:nvPr/>
        </p:nvSpPr>
        <p:spPr>
          <a:xfrm>
            <a:off x="914400" y="5943600"/>
            <a:ext cx="10058400" cy="365760"/>
          </a:xfrm>
          <a:prstGeom prst="rect">
            <a:avLst/>
          </a:prstGeom>
          <a:noFill/>
        </p:spPr>
        <p:txBody>
          <a:bodyPr wrap="square">
            <a:spAutoFit/>
          </a:bodyPr>
          <a:lstStyle/>
          <a:p>
            <a:pPr algn="l">
              <a:defRPr sz="1200" b="0">
                <a:solidFill>
                  <a:srgbClr val="71717A"/>
                </a:solidFill>
                <a:latin typeface="Calibri"/>
              </a:defRPr>
            </a:pPr>
            <a:r>
              <a:t>Yassh: Scope &amp; Objectives  |  Alex: Recon &amp; Scanning  |  Jordan: Exploitation  |  [Member 4]: Summary &amp;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Yassh</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The Problem</a:t>
            </a:r>
          </a:p>
        </p:txBody>
      </p:sp>
      <p:sp>
        <p:nvSpPr>
          <p:cNvPr id="4" name="TextBox 3"/>
          <p:cNvSpPr txBox="1"/>
          <p:nvPr/>
        </p:nvSpPr>
        <p:spPr>
          <a:xfrm>
            <a:off x="914400" y="1188720"/>
            <a:ext cx="10058400" cy="457200"/>
          </a:xfrm>
          <a:prstGeom prst="rect">
            <a:avLst/>
          </a:prstGeom>
          <a:noFill/>
        </p:spPr>
        <p:txBody>
          <a:bodyPr wrap="square">
            <a:spAutoFit/>
          </a:bodyPr>
          <a:lstStyle/>
          <a:p>
            <a:pPr algn="l">
              <a:defRPr sz="2000" b="0">
                <a:solidFill>
                  <a:srgbClr val="FBBF24"/>
                </a:solidFill>
                <a:latin typeface="Calibri"/>
              </a:defRPr>
            </a:pPr>
            <a:r>
              <a:t>AI is writing production code. Nobody is checking if it's secure.</a:t>
            </a:r>
          </a:p>
        </p:txBody>
      </p:sp>
      <p:sp>
        <p:nvSpPr>
          <p:cNvPr id="5" name="Rounded Rectangle 4"/>
          <p:cNvSpPr/>
          <p:nvPr/>
        </p:nvSpPr>
        <p:spPr>
          <a:xfrm>
            <a:off x="914400" y="2011680"/>
            <a:ext cx="3200400" cy="128016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48840"/>
            <a:ext cx="2834640" cy="274320"/>
          </a:xfrm>
          <a:prstGeom prst="rect">
            <a:avLst/>
          </a:prstGeom>
          <a:noFill/>
        </p:spPr>
        <p:txBody>
          <a:bodyPr wrap="square">
            <a:spAutoFit/>
          </a:bodyPr>
          <a:lstStyle/>
          <a:p>
            <a:pPr algn="l">
              <a:defRPr sz="1000" b="0">
                <a:solidFill>
                  <a:srgbClr val="71717A"/>
                </a:solidFill>
                <a:latin typeface="Calibri"/>
              </a:defRPr>
            </a:pPr>
            <a:r>
              <a:t>AI CODE ADOPTION</a:t>
            </a:r>
          </a:p>
        </p:txBody>
      </p:sp>
      <p:sp>
        <p:nvSpPr>
          <p:cNvPr id="7" name="TextBox 6"/>
          <p:cNvSpPr txBox="1"/>
          <p:nvPr/>
        </p:nvSpPr>
        <p:spPr>
          <a:xfrm>
            <a:off x="1097280" y="2423160"/>
            <a:ext cx="2834640" cy="457200"/>
          </a:xfrm>
          <a:prstGeom prst="rect">
            <a:avLst/>
          </a:prstGeom>
          <a:noFill/>
        </p:spPr>
        <p:txBody>
          <a:bodyPr wrap="square">
            <a:spAutoFit/>
          </a:bodyPr>
          <a:lstStyle/>
          <a:p>
            <a:pPr algn="l">
              <a:defRPr sz="2800" b="1">
                <a:solidFill>
                  <a:srgbClr val="60A5FA"/>
                </a:solidFill>
                <a:latin typeface="Calibri"/>
              </a:defRPr>
            </a:pPr>
            <a:r>
              <a:t>97%</a:t>
            </a:r>
          </a:p>
        </p:txBody>
      </p:sp>
      <p:sp>
        <p:nvSpPr>
          <p:cNvPr id="8" name="TextBox 7"/>
          <p:cNvSpPr txBox="1"/>
          <p:nvPr/>
        </p:nvSpPr>
        <p:spPr>
          <a:xfrm>
            <a:off x="1097280" y="2926080"/>
            <a:ext cx="2834640" cy="274320"/>
          </a:xfrm>
          <a:prstGeom prst="rect">
            <a:avLst/>
          </a:prstGeom>
          <a:noFill/>
        </p:spPr>
        <p:txBody>
          <a:bodyPr wrap="square">
            <a:spAutoFit/>
          </a:bodyPr>
          <a:lstStyle/>
          <a:p>
            <a:pPr algn="l">
              <a:defRPr sz="1000" b="0">
                <a:solidFill>
                  <a:srgbClr val="71717A"/>
                </a:solidFill>
                <a:latin typeface="Calibri"/>
              </a:defRPr>
            </a:pPr>
            <a:r>
              <a:t>of developers use AI coding tools (GitHub 2025)</a:t>
            </a:r>
          </a:p>
        </p:txBody>
      </p:sp>
      <p:sp>
        <p:nvSpPr>
          <p:cNvPr id="9" name="Rounded Rectangle 8"/>
          <p:cNvSpPr/>
          <p:nvPr/>
        </p:nvSpPr>
        <p:spPr>
          <a:xfrm>
            <a:off x="4572000" y="2011680"/>
            <a:ext cx="3200400" cy="128016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148840"/>
            <a:ext cx="2834640" cy="274320"/>
          </a:xfrm>
          <a:prstGeom prst="rect">
            <a:avLst/>
          </a:prstGeom>
          <a:noFill/>
        </p:spPr>
        <p:txBody>
          <a:bodyPr wrap="square">
            <a:spAutoFit/>
          </a:bodyPr>
          <a:lstStyle/>
          <a:p>
            <a:pPr algn="l">
              <a:defRPr sz="1000" b="0">
                <a:solidFill>
                  <a:srgbClr val="71717A"/>
                </a:solidFill>
                <a:latin typeface="Calibri"/>
              </a:defRPr>
            </a:pPr>
            <a:r>
              <a:t>SECURITY REVIEWS</a:t>
            </a:r>
          </a:p>
        </p:txBody>
      </p:sp>
      <p:sp>
        <p:nvSpPr>
          <p:cNvPr id="11" name="TextBox 10"/>
          <p:cNvSpPr txBox="1"/>
          <p:nvPr/>
        </p:nvSpPr>
        <p:spPr>
          <a:xfrm>
            <a:off x="4754880" y="2423160"/>
            <a:ext cx="2834640" cy="457200"/>
          </a:xfrm>
          <a:prstGeom prst="rect">
            <a:avLst/>
          </a:prstGeom>
          <a:noFill/>
        </p:spPr>
        <p:txBody>
          <a:bodyPr wrap="square">
            <a:spAutoFit/>
          </a:bodyPr>
          <a:lstStyle/>
          <a:p>
            <a:pPr algn="l">
              <a:defRPr sz="2800" b="1">
                <a:solidFill>
                  <a:srgbClr val="F87171"/>
                </a:solidFill>
                <a:latin typeface="Calibri"/>
              </a:defRPr>
            </a:pPr>
            <a:r>
              <a:t>&lt; 30%</a:t>
            </a:r>
          </a:p>
        </p:txBody>
      </p:sp>
      <p:sp>
        <p:nvSpPr>
          <p:cNvPr id="12" name="TextBox 11"/>
          <p:cNvSpPr txBox="1"/>
          <p:nvPr/>
        </p:nvSpPr>
        <p:spPr>
          <a:xfrm>
            <a:off x="4754880" y="2926080"/>
            <a:ext cx="2834640" cy="274320"/>
          </a:xfrm>
          <a:prstGeom prst="rect">
            <a:avLst/>
          </a:prstGeom>
          <a:noFill/>
        </p:spPr>
        <p:txBody>
          <a:bodyPr wrap="square">
            <a:spAutoFit/>
          </a:bodyPr>
          <a:lstStyle/>
          <a:p>
            <a:pPr algn="l">
              <a:defRPr sz="1000" b="0">
                <a:solidFill>
                  <a:srgbClr val="71717A"/>
                </a:solidFill>
                <a:latin typeface="Calibri"/>
              </a:defRPr>
            </a:pPr>
            <a:r>
              <a:t>of AI-generated code gets security review</a:t>
            </a:r>
          </a:p>
        </p:txBody>
      </p:sp>
      <p:sp>
        <p:nvSpPr>
          <p:cNvPr id="13" name="Rounded Rectangle 12"/>
          <p:cNvSpPr/>
          <p:nvPr/>
        </p:nvSpPr>
        <p:spPr>
          <a:xfrm>
            <a:off x="8229600" y="2011680"/>
            <a:ext cx="3200400" cy="128016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148840"/>
            <a:ext cx="2834640" cy="274320"/>
          </a:xfrm>
          <a:prstGeom prst="rect">
            <a:avLst/>
          </a:prstGeom>
          <a:noFill/>
        </p:spPr>
        <p:txBody>
          <a:bodyPr wrap="square">
            <a:spAutoFit/>
          </a:bodyPr>
          <a:lstStyle/>
          <a:p>
            <a:pPr algn="l">
              <a:defRPr sz="1000" b="0">
                <a:solidFill>
                  <a:srgbClr val="71717A"/>
                </a:solidFill>
                <a:latin typeface="Calibri"/>
              </a:defRPr>
            </a:pPr>
            <a:r>
              <a:t>OUR QUESTION</a:t>
            </a:r>
          </a:p>
        </p:txBody>
      </p:sp>
      <p:sp>
        <p:nvSpPr>
          <p:cNvPr id="15" name="TextBox 14"/>
          <p:cNvSpPr txBox="1"/>
          <p:nvPr/>
        </p:nvSpPr>
        <p:spPr>
          <a:xfrm>
            <a:off x="8412480" y="2423160"/>
            <a:ext cx="2834640" cy="457200"/>
          </a:xfrm>
          <a:prstGeom prst="rect">
            <a:avLst/>
          </a:prstGeom>
          <a:noFill/>
        </p:spPr>
        <p:txBody>
          <a:bodyPr wrap="square">
            <a:spAutoFit/>
          </a:bodyPr>
          <a:lstStyle/>
          <a:p>
            <a:pPr algn="l">
              <a:defRPr sz="2800" b="1">
                <a:solidFill>
                  <a:srgbClr val="34D399"/>
                </a:solidFill>
                <a:latin typeface="Calibri"/>
              </a:defRPr>
            </a:pPr>
            <a:r>
              <a:t>Is it safe?</a:t>
            </a:r>
          </a:p>
        </p:txBody>
      </p:sp>
      <p:sp>
        <p:nvSpPr>
          <p:cNvPr id="16" name="TextBox 15"/>
          <p:cNvSpPr txBox="1"/>
          <p:nvPr/>
        </p:nvSpPr>
        <p:spPr>
          <a:xfrm>
            <a:off x="8412480" y="2926080"/>
            <a:ext cx="2834640" cy="274320"/>
          </a:xfrm>
          <a:prstGeom prst="rect">
            <a:avLst/>
          </a:prstGeom>
          <a:noFill/>
        </p:spPr>
        <p:txBody>
          <a:bodyPr wrap="square">
            <a:spAutoFit/>
          </a:bodyPr>
          <a:lstStyle/>
          <a:p>
            <a:pPr algn="l">
              <a:defRPr sz="1000" b="0">
                <a:solidFill>
                  <a:srgbClr val="71717A"/>
                </a:solidFill>
                <a:latin typeface="Calibri"/>
              </a:defRPr>
            </a:pPr>
            <a:r>
              <a:t>Systematic testing at scale</a:t>
            </a:r>
          </a:p>
        </p:txBody>
      </p:sp>
      <p:sp>
        <p:nvSpPr>
          <p:cNvPr id="17" name="TextBox 16"/>
          <p:cNvSpPr txBox="1"/>
          <p:nvPr/>
        </p:nvSpPr>
        <p:spPr>
          <a:xfrm>
            <a:off x="914400" y="3840480"/>
            <a:ext cx="10058400" cy="2286000"/>
          </a:xfrm>
          <a:prstGeom prst="rect">
            <a:avLst/>
          </a:prstGeom>
          <a:noFill/>
        </p:spPr>
        <p:txBody>
          <a:bodyPr wrap="square">
            <a:spAutoFit/>
          </a:bodyPr>
          <a:lstStyle/>
          <a:p>
            <a:pPr>
              <a:spcAft>
                <a:spcPts val="800"/>
              </a:spcAft>
              <a:defRPr sz="1800">
                <a:solidFill>
                  <a:srgbClr val="A1A1AA"/>
                </a:solidFill>
                <a:latin typeface="Calibri"/>
              </a:defRPr>
            </a:pPr>
            <a:r>
              <a:t>AI models generate code that compiles and runs — but is it secure?</a:t>
            </a:r>
          </a:p>
          <a:p>
            <a:pPr>
              <a:spcAft>
                <a:spcPts val="800"/>
              </a:spcAft>
              <a:defRPr sz="1800">
                <a:solidFill>
                  <a:srgbClr val="A1A1AA"/>
                </a:solidFill>
                <a:latin typeface="Calibri"/>
              </a:defRPr>
            </a:pPr>
            <a:r>
              <a:t>Existing benchmarks test functionality, not security</a:t>
            </a:r>
          </a:p>
          <a:p>
            <a:pPr>
              <a:spcAft>
                <a:spcPts val="800"/>
              </a:spcAft>
              <a:defRPr sz="1800">
                <a:solidFill>
                  <a:srgbClr val="A1A1AA"/>
                </a:solidFill>
                <a:latin typeface="Calibri"/>
              </a:defRPr>
            </a:pPr>
            <a:r>
              <a:t>BaxBench (ICML 2025) was the first security benchmark — but limited</a:t>
            </a:r>
          </a:p>
          <a:p>
            <a:pPr>
              <a:spcAft>
                <a:spcPts val="800"/>
              </a:spcAft>
              <a:defRPr sz="1800">
                <a:solidFill>
                  <a:srgbClr val="A1A1AA"/>
                </a:solidFill>
                <a:latin typeface="Calibri"/>
              </a:defRPr>
            </a:pPr>
            <a:r>
              <a:t>We extended it significantly and named it CodeStrike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Yassh</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Scope: Domain &amp; Our Contribution</a:t>
            </a:r>
          </a:p>
        </p:txBody>
      </p:sp>
      <p:sp>
        <p:nvSpPr>
          <p:cNvPr id="4" name="TextBox 3"/>
          <p:cNvSpPr txBox="1"/>
          <p:nvPr/>
        </p:nvSpPr>
        <p:spPr>
          <a:xfrm>
            <a:off x="914400" y="1188720"/>
            <a:ext cx="4572000" cy="365760"/>
          </a:xfrm>
          <a:prstGeom prst="rect">
            <a:avLst/>
          </a:prstGeom>
          <a:noFill/>
        </p:spPr>
        <p:txBody>
          <a:bodyPr wrap="square">
            <a:spAutoFit/>
          </a:bodyPr>
          <a:lstStyle/>
          <a:p>
            <a:pPr algn="l">
              <a:defRPr sz="2000" b="1">
                <a:solidFill>
                  <a:srgbClr val="34D399"/>
                </a:solidFill>
                <a:latin typeface="Calibri"/>
              </a:defRPr>
            </a:pPr>
            <a:r>
              <a:t>Domain: Web Application Security</a:t>
            </a:r>
          </a:p>
        </p:txBody>
      </p:sp>
      <p:sp>
        <p:nvSpPr>
          <p:cNvPr id="5" name="TextBox 4"/>
          <p:cNvSpPr txBox="1"/>
          <p:nvPr/>
        </p:nvSpPr>
        <p:spPr>
          <a:xfrm>
            <a:off x="914400" y="1737360"/>
            <a:ext cx="4572000" cy="1828800"/>
          </a:xfrm>
          <a:prstGeom prst="rect">
            <a:avLst/>
          </a:prstGeom>
          <a:noFill/>
        </p:spPr>
        <p:txBody>
          <a:bodyPr wrap="square">
            <a:spAutoFit/>
          </a:bodyPr>
          <a:lstStyle/>
          <a:p>
            <a:pPr>
              <a:spcAft>
                <a:spcPts val="800"/>
              </a:spcAft>
              <a:defRPr sz="1500">
                <a:solidFill>
                  <a:srgbClr val="A1A1AA"/>
                </a:solidFill>
                <a:latin typeface="Calibri"/>
              </a:defRPr>
            </a:pPr>
            <a:r>
              <a:t>AI-generated REST API backends</a:t>
            </a:r>
          </a:p>
          <a:p>
            <a:pPr>
              <a:spcAft>
                <a:spcPts val="800"/>
              </a:spcAft>
              <a:defRPr sz="1500">
                <a:solidFill>
                  <a:srgbClr val="A1A1AA"/>
                </a:solidFill>
                <a:latin typeface="Calibri"/>
              </a:defRPr>
            </a:pPr>
            <a:r>
              <a:t>3 frameworks: Flask, Express, Go-Fiber</a:t>
            </a:r>
          </a:p>
          <a:p>
            <a:pPr>
              <a:spcAft>
                <a:spcPts val="800"/>
              </a:spcAft>
              <a:defRPr sz="1500">
                <a:solidFill>
                  <a:srgbClr val="A1A1AA"/>
                </a:solidFill>
                <a:latin typeface="Calibri"/>
              </a:defRPr>
            </a:pPr>
            <a:r>
              <a:t>3 safety prompt levels: none, generic, specific</a:t>
            </a:r>
          </a:p>
          <a:p>
            <a:pPr>
              <a:spcAft>
                <a:spcPts val="800"/>
              </a:spcAft>
              <a:defRPr sz="1500">
                <a:solidFill>
                  <a:srgbClr val="A1A1AA"/>
                </a:solidFill>
                <a:latin typeface="Calibri"/>
              </a:defRPr>
            </a:pPr>
            <a:r>
              <a:t>35 unique web application scenarios</a:t>
            </a:r>
          </a:p>
        </p:txBody>
      </p:sp>
      <p:sp>
        <p:nvSpPr>
          <p:cNvPr id="6" name="TextBox 5"/>
          <p:cNvSpPr txBox="1"/>
          <p:nvPr/>
        </p:nvSpPr>
        <p:spPr>
          <a:xfrm>
            <a:off x="6400800" y="1188720"/>
            <a:ext cx="5029200" cy="365760"/>
          </a:xfrm>
          <a:prstGeom prst="rect">
            <a:avLst/>
          </a:prstGeom>
          <a:noFill/>
        </p:spPr>
        <p:txBody>
          <a:bodyPr wrap="square">
            <a:spAutoFit/>
          </a:bodyPr>
          <a:lstStyle/>
          <a:p>
            <a:pPr algn="l">
              <a:defRPr sz="2000" b="1">
                <a:solidFill>
                  <a:srgbClr val="A78BFA"/>
                </a:solidFill>
                <a:latin typeface="Calibri"/>
              </a:defRPr>
            </a:pPr>
            <a:r>
              <a:t>What We Extended (vs Original BaxBench)</a:t>
            </a:r>
          </a:p>
        </p:txBody>
      </p:sp>
      <p:sp>
        <p:nvSpPr>
          <p:cNvPr id="7" name="TextBox 6"/>
          <p:cNvSpPr txBox="1"/>
          <p:nvPr/>
        </p:nvSpPr>
        <p:spPr>
          <a:xfrm>
            <a:off x="6400800" y="1737360"/>
            <a:ext cx="5029200" cy="3657600"/>
          </a:xfrm>
          <a:prstGeom prst="rect">
            <a:avLst/>
          </a:prstGeom>
          <a:noFill/>
        </p:spPr>
        <p:txBody>
          <a:bodyPr wrap="square">
            <a:spAutoFit/>
          </a:bodyPr>
          <a:lstStyle/>
          <a:p>
            <a:pPr>
              <a:spcAft>
                <a:spcPts val="800"/>
              </a:spcAft>
              <a:defRPr sz="1400">
                <a:solidFill>
                  <a:srgbClr val="34D399"/>
                </a:solidFill>
                <a:latin typeface="Calibri"/>
              </a:defRPr>
            </a:pPr>
            <a:r>
              <a:t>Scenarios: 28 -&gt; 35 (+7 OWASP 2025)</a:t>
            </a:r>
          </a:p>
          <a:p>
            <a:pPr>
              <a:spcAft>
                <a:spcPts val="800"/>
              </a:spcAft>
              <a:defRPr sz="1400">
                <a:solidFill>
                  <a:srgbClr val="34D399"/>
                </a:solidFill>
                <a:latin typeface="Calibri"/>
              </a:defRPr>
            </a:pPr>
            <a:r>
              <a:t>CWEs monitored: 23 -&gt; 38 (+15 new types)</a:t>
            </a:r>
          </a:p>
          <a:p>
            <a:pPr>
              <a:spcAft>
                <a:spcPts val="800"/>
              </a:spcAft>
              <a:defRPr sz="1400">
                <a:solidFill>
                  <a:srgbClr val="34D399"/>
                </a:solidFill>
                <a:latin typeface="Calibri"/>
              </a:defRPr>
            </a:pPr>
            <a:r>
              <a:t>XSS vectors: 2 -&gt; 25 (polyglot, encoding bypasses)</a:t>
            </a:r>
          </a:p>
          <a:p>
            <a:pPr>
              <a:spcAft>
                <a:spcPts val="800"/>
              </a:spcAft>
              <a:defRPr sz="1400">
                <a:solidFill>
                  <a:srgbClr val="34D399"/>
                </a:solidFill>
                <a:latin typeface="Calibri"/>
              </a:defRPr>
            </a:pPr>
            <a:r>
              <a:t>SQLi vectors: 8 -&gt; 25 (UNION, time-based blind)</a:t>
            </a:r>
          </a:p>
          <a:p>
            <a:pPr>
              <a:spcAft>
                <a:spcPts val="800"/>
              </a:spcAft>
              <a:defRPr sz="1400">
                <a:solidFill>
                  <a:srgbClr val="34D399"/>
                </a:solidFill>
                <a:latin typeface="Calibri"/>
              </a:defRPr>
            </a:pPr>
            <a:r>
              <a:t>Added: SSRF, IDOR, XXE, mass assignment scenarios</a:t>
            </a:r>
          </a:p>
          <a:p>
            <a:pPr>
              <a:spcAft>
                <a:spcPts val="800"/>
              </a:spcAft>
              <a:defRPr sz="1400">
                <a:solidFill>
                  <a:srgbClr val="34D399"/>
                </a:solidFill>
                <a:latin typeface="Calibri"/>
              </a:defRPr>
            </a:pPr>
            <a:r>
              <a:t>Added: SAST module (weak crypto, hardcoded creds)</a:t>
            </a:r>
          </a:p>
          <a:p>
            <a:pPr>
              <a:spcAft>
                <a:spcPts val="800"/>
              </a:spcAft>
              <a:defRPr sz="1400">
                <a:solidFill>
                  <a:srgbClr val="34D399"/>
                </a:solidFill>
                <a:latin typeface="Calibri"/>
              </a:defRPr>
            </a:pPr>
            <a:r>
              <a:t>Added: 4 universal security tests per scenario</a:t>
            </a:r>
          </a:p>
          <a:p>
            <a:pPr>
              <a:spcAft>
                <a:spcPts val="800"/>
              </a:spcAft>
              <a:defRPr sz="1400">
                <a:solidFill>
                  <a:srgbClr val="F87171"/>
                </a:solidFill>
                <a:latin typeface="Calibri"/>
              </a:defRPr>
            </a:pPr>
            <a:r>
              <a:t>Fixed: 'secure by crash' measurement bug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Yassh</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Vulnerabilities Tested: OWASP Top 10 2025</a:t>
            </a:r>
          </a:p>
        </p:txBody>
      </p:sp>
      <p:sp>
        <p:nvSpPr>
          <p:cNvPr id="4" name="TextBox 3"/>
          <p:cNvSpPr txBox="1"/>
          <p:nvPr/>
        </p:nvSpPr>
        <p:spPr>
          <a:xfrm>
            <a:off x="914400" y="1280160"/>
            <a:ext cx="10058400" cy="5029200"/>
          </a:xfrm>
          <a:prstGeom prst="rect">
            <a:avLst/>
          </a:prstGeom>
          <a:noFill/>
        </p:spPr>
        <p:txBody>
          <a:bodyPr wrap="square">
            <a:spAutoFit/>
          </a:bodyPr>
          <a:lstStyle/>
          <a:p>
            <a:pPr>
              <a:spcAft>
                <a:spcPts val="800"/>
              </a:spcAft>
              <a:defRPr sz="1600">
                <a:solidFill>
                  <a:srgbClr val="F87171"/>
                </a:solidFill>
                <a:latin typeface="Calibri"/>
              </a:defRPr>
            </a:pPr>
            <a:r>
              <a:t>A01 Broken Access Control — CWE-284, 352, 639, 862, 863, 918</a:t>
            </a:r>
          </a:p>
          <a:p>
            <a:pPr>
              <a:spcAft>
                <a:spcPts val="800"/>
              </a:spcAft>
              <a:defRPr sz="1600">
                <a:solidFill>
                  <a:srgbClr val="F87171"/>
                </a:solidFill>
                <a:latin typeface="Calibri"/>
              </a:defRPr>
            </a:pPr>
            <a:r>
              <a:t>A02 Cryptographic Failures — CWE-327, 338, 522, 798</a:t>
            </a:r>
          </a:p>
          <a:p>
            <a:pPr>
              <a:spcAft>
                <a:spcPts val="800"/>
              </a:spcAft>
              <a:defRPr sz="1600">
                <a:solidFill>
                  <a:srgbClr val="F87171"/>
                </a:solidFill>
                <a:latin typeface="Calibri"/>
              </a:defRPr>
            </a:pPr>
            <a:r>
              <a:t>A03 Injection — CWE-20, 22, 78, 79, 89, 94, 117, 611</a:t>
            </a:r>
          </a:p>
          <a:p>
            <a:pPr>
              <a:spcAft>
                <a:spcPts val="800"/>
              </a:spcAft>
              <a:defRPr sz="1600">
                <a:solidFill>
                  <a:srgbClr val="F87171"/>
                </a:solidFill>
                <a:latin typeface="Calibri"/>
              </a:defRPr>
            </a:pPr>
            <a:r>
              <a:t>A04 Insecure Design — CWE-640, 840</a:t>
            </a:r>
          </a:p>
          <a:p>
            <a:pPr>
              <a:spcAft>
                <a:spcPts val="800"/>
              </a:spcAft>
              <a:defRPr sz="1600">
                <a:solidFill>
                  <a:srgbClr val="F87171"/>
                </a:solidFill>
                <a:latin typeface="Calibri"/>
              </a:defRPr>
            </a:pPr>
            <a:r>
              <a:t>A05 Security Misconfiguration — CWE-614, 693, 942, 1275</a:t>
            </a:r>
          </a:p>
          <a:p>
            <a:pPr>
              <a:spcAft>
                <a:spcPts val="800"/>
              </a:spcAft>
              <a:defRPr sz="1600">
                <a:solidFill>
                  <a:srgbClr val="71717A"/>
                </a:solidFill>
                <a:latin typeface="Calibri"/>
              </a:defRPr>
            </a:pPr>
            <a:r>
              <a:t>A06 Vulnerable Components — CWE-1104</a:t>
            </a:r>
          </a:p>
          <a:p>
            <a:pPr>
              <a:spcAft>
                <a:spcPts val="800"/>
              </a:spcAft>
              <a:defRPr sz="1600">
                <a:solidFill>
                  <a:srgbClr val="F87171"/>
                </a:solidFill>
                <a:latin typeface="Calibri"/>
              </a:defRPr>
            </a:pPr>
            <a:r>
              <a:t>A07 Auth Failures — CWE-287, 307, 384, 613</a:t>
            </a:r>
          </a:p>
          <a:p>
            <a:pPr>
              <a:spcAft>
                <a:spcPts val="800"/>
              </a:spcAft>
              <a:defRPr sz="1600">
                <a:solidFill>
                  <a:srgbClr val="71717A"/>
                </a:solidFill>
                <a:latin typeface="Calibri"/>
              </a:defRPr>
            </a:pPr>
            <a:r>
              <a:t>A08 Integrity Failures — CWE-345, 347, 502</a:t>
            </a:r>
          </a:p>
          <a:p>
            <a:pPr>
              <a:spcAft>
                <a:spcPts val="800"/>
              </a:spcAft>
              <a:defRPr sz="1600">
                <a:solidFill>
                  <a:srgbClr val="71717A"/>
                </a:solidFill>
                <a:latin typeface="Calibri"/>
              </a:defRPr>
            </a:pPr>
            <a:r>
              <a:t>A09 Logging Failures — CWE-209</a:t>
            </a:r>
          </a:p>
          <a:p>
            <a:pPr>
              <a:spcAft>
                <a:spcPts val="800"/>
              </a:spcAft>
              <a:defRPr sz="1600">
                <a:solidFill>
                  <a:srgbClr val="F87171"/>
                </a:solidFill>
                <a:latin typeface="Calibri"/>
              </a:defRPr>
            </a:pPr>
            <a:r>
              <a:t>A10 Exceptional Conditions — CWE-400, 636, 703 (new in 2025)</a:t>
            </a:r>
          </a:p>
        </p:txBody>
      </p:sp>
      <p:sp>
        <p:nvSpPr>
          <p:cNvPr id="5" name="TextBox 4"/>
          <p:cNvSpPr txBox="1"/>
          <p:nvPr/>
        </p:nvSpPr>
        <p:spPr>
          <a:xfrm>
            <a:off x="914400" y="5943600"/>
            <a:ext cx="10058400" cy="365760"/>
          </a:xfrm>
          <a:prstGeom prst="rect">
            <a:avLst/>
          </a:prstGeom>
          <a:noFill/>
        </p:spPr>
        <p:txBody>
          <a:bodyPr wrap="square">
            <a:spAutoFit/>
          </a:bodyPr>
          <a:lstStyle/>
          <a:p>
            <a:pPr algn="l">
              <a:defRPr sz="1300" b="0">
                <a:solidFill>
                  <a:srgbClr val="FBBF24"/>
                </a:solidFill>
                <a:latin typeface="Calibri"/>
              </a:defRPr>
            </a:pPr>
            <a:r>
              <a:t>Result: Found vulnerabilities in 7 of 10 categories  |  38 CWEs monitored  |  18 CWE types found  |  2,295 total occurrences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Yassh</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Goals &amp; Scale of Testing</a:t>
            </a:r>
          </a:p>
        </p:txBody>
      </p:sp>
      <p:sp>
        <p:nvSpPr>
          <p:cNvPr id="4" name="Rounded Rectangle 3"/>
          <p:cNvSpPr/>
          <p:nvPr/>
        </p:nvSpPr>
        <p:spPr>
          <a:xfrm>
            <a:off x="914400" y="1188720"/>
            <a:ext cx="2286000" cy="128016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325880"/>
            <a:ext cx="1920240" cy="274320"/>
          </a:xfrm>
          <a:prstGeom prst="rect">
            <a:avLst/>
          </a:prstGeom>
          <a:noFill/>
        </p:spPr>
        <p:txBody>
          <a:bodyPr wrap="square">
            <a:spAutoFit/>
          </a:bodyPr>
          <a:lstStyle/>
          <a:p>
            <a:pPr algn="l">
              <a:defRPr sz="1000" b="0">
                <a:solidFill>
                  <a:srgbClr val="71717A"/>
                </a:solidFill>
                <a:latin typeface="Calibri"/>
              </a:defRPr>
            </a:pPr>
            <a:r>
              <a:t>TOTAL TESTS</a:t>
            </a:r>
          </a:p>
        </p:txBody>
      </p:sp>
      <p:sp>
        <p:nvSpPr>
          <p:cNvPr id="6" name="TextBox 5"/>
          <p:cNvSpPr txBox="1"/>
          <p:nvPr/>
        </p:nvSpPr>
        <p:spPr>
          <a:xfrm>
            <a:off x="1097280" y="1600200"/>
            <a:ext cx="1920240" cy="457200"/>
          </a:xfrm>
          <a:prstGeom prst="rect">
            <a:avLst/>
          </a:prstGeom>
          <a:noFill/>
        </p:spPr>
        <p:txBody>
          <a:bodyPr wrap="square">
            <a:spAutoFit/>
          </a:bodyPr>
          <a:lstStyle/>
          <a:p>
            <a:pPr algn="l">
              <a:defRPr sz="2800" b="1">
                <a:solidFill>
                  <a:srgbClr val="34D399"/>
                </a:solidFill>
                <a:latin typeface="Calibri"/>
              </a:defRPr>
            </a:pPr>
            <a:r>
              <a:t>4,505</a:t>
            </a:r>
          </a:p>
        </p:txBody>
      </p:sp>
      <p:sp>
        <p:nvSpPr>
          <p:cNvPr id="7" name="TextBox 6"/>
          <p:cNvSpPr txBox="1"/>
          <p:nvPr/>
        </p:nvSpPr>
        <p:spPr>
          <a:xfrm>
            <a:off x="1097280" y="2103120"/>
            <a:ext cx="1920240" cy="274320"/>
          </a:xfrm>
          <a:prstGeom prst="rect">
            <a:avLst/>
          </a:prstGeom>
          <a:noFill/>
        </p:spPr>
        <p:txBody>
          <a:bodyPr wrap="square">
            <a:spAutoFit/>
          </a:bodyPr>
          <a:lstStyle/>
          <a:p>
            <a:pPr algn="l">
              <a:defRPr sz="1000" b="0">
                <a:solidFill>
                  <a:srgbClr val="71717A"/>
                </a:solidFill>
                <a:latin typeface="Calibri"/>
              </a:defRPr>
            </a:pPr>
            <a:r>
              <a:t>apps generated &amp; tested</a:t>
            </a:r>
          </a:p>
        </p:txBody>
      </p:sp>
      <p:sp>
        <p:nvSpPr>
          <p:cNvPr id="8" name="Rounded Rectangle 7"/>
          <p:cNvSpPr/>
          <p:nvPr/>
        </p:nvSpPr>
        <p:spPr>
          <a:xfrm>
            <a:off x="3474720" y="1188720"/>
            <a:ext cx="2286000" cy="128016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325880"/>
            <a:ext cx="1920240" cy="274320"/>
          </a:xfrm>
          <a:prstGeom prst="rect">
            <a:avLst/>
          </a:prstGeom>
          <a:noFill/>
        </p:spPr>
        <p:txBody>
          <a:bodyPr wrap="square">
            <a:spAutoFit/>
          </a:bodyPr>
          <a:lstStyle/>
          <a:p>
            <a:pPr algn="l">
              <a:defRPr sz="1000" b="0">
                <a:solidFill>
                  <a:srgbClr val="71717A"/>
                </a:solidFill>
                <a:latin typeface="Calibri"/>
              </a:defRPr>
            </a:pPr>
            <a:r>
              <a:t>AI MODELS</a:t>
            </a:r>
          </a:p>
        </p:txBody>
      </p:sp>
      <p:sp>
        <p:nvSpPr>
          <p:cNvPr id="10" name="TextBox 9"/>
          <p:cNvSpPr txBox="1"/>
          <p:nvPr/>
        </p:nvSpPr>
        <p:spPr>
          <a:xfrm>
            <a:off x="3657600" y="1600200"/>
            <a:ext cx="1920240" cy="457200"/>
          </a:xfrm>
          <a:prstGeom prst="rect">
            <a:avLst/>
          </a:prstGeom>
          <a:noFill/>
        </p:spPr>
        <p:txBody>
          <a:bodyPr wrap="square">
            <a:spAutoFit/>
          </a:bodyPr>
          <a:lstStyle/>
          <a:p>
            <a:pPr algn="l">
              <a:defRPr sz="2800" b="1">
                <a:solidFill>
                  <a:srgbClr val="60A5FA"/>
                </a:solidFill>
                <a:latin typeface="Calibri"/>
              </a:defRPr>
            </a:pPr>
            <a:r>
              <a:t>15</a:t>
            </a:r>
          </a:p>
        </p:txBody>
      </p:sp>
      <p:sp>
        <p:nvSpPr>
          <p:cNvPr id="11" name="TextBox 10"/>
          <p:cNvSpPr txBox="1"/>
          <p:nvPr/>
        </p:nvSpPr>
        <p:spPr>
          <a:xfrm>
            <a:off x="3657600" y="2103120"/>
            <a:ext cx="1920240" cy="274320"/>
          </a:xfrm>
          <a:prstGeom prst="rect">
            <a:avLst/>
          </a:prstGeom>
          <a:noFill/>
        </p:spPr>
        <p:txBody>
          <a:bodyPr wrap="square">
            <a:spAutoFit/>
          </a:bodyPr>
          <a:lstStyle/>
          <a:p>
            <a:pPr algn="l">
              <a:defRPr sz="1000" b="0">
                <a:solidFill>
                  <a:srgbClr val="71717A"/>
                </a:solidFill>
                <a:latin typeface="Calibri"/>
              </a:defRPr>
            </a:pPr>
            <a:r>
              <a:t>6 thinking + 9 standard</a:t>
            </a:r>
          </a:p>
        </p:txBody>
      </p:sp>
      <p:sp>
        <p:nvSpPr>
          <p:cNvPr id="12" name="Rounded Rectangle 11"/>
          <p:cNvSpPr/>
          <p:nvPr/>
        </p:nvSpPr>
        <p:spPr>
          <a:xfrm>
            <a:off x="6035040" y="1188720"/>
            <a:ext cx="2286000" cy="128016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25880"/>
            <a:ext cx="1920240" cy="274320"/>
          </a:xfrm>
          <a:prstGeom prst="rect">
            <a:avLst/>
          </a:prstGeom>
          <a:noFill/>
        </p:spPr>
        <p:txBody>
          <a:bodyPr wrap="square">
            <a:spAutoFit/>
          </a:bodyPr>
          <a:lstStyle/>
          <a:p>
            <a:pPr algn="l">
              <a:defRPr sz="1000" b="0">
                <a:solidFill>
                  <a:srgbClr val="71717A"/>
                </a:solidFill>
                <a:latin typeface="Calibri"/>
              </a:defRPr>
            </a:pPr>
            <a:r>
              <a:t>SCENARIOS</a:t>
            </a:r>
          </a:p>
        </p:txBody>
      </p:sp>
      <p:sp>
        <p:nvSpPr>
          <p:cNvPr id="14" name="TextBox 13"/>
          <p:cNvSpPr txBox="1"/>
          <p:nvPr/>
        </p:nvSpPr>
        <p:spPr>
          <a:xfrm>
            <a:off x="6217920" y="1600200"/>
            <a:ext cx="1920240" cy="457200"/>
          </a:xfrm>
          <a:prstGeom prst="rect">
            <a:avLst/>
          </a:prstGeom>
          <a:noFill/>
        </p:spPr>
        <p:txBody>
          <a:bodyPr wrap="square">
            <a:spAutoFit/>
          </a:bodyPr>
          <a:lstStyle/>
          <a:p>
            <a:pPr algn="l">
              <a:defRPr sz="2800" b="1">
                <a:solidFill>
                  <a:srgbClr val="A78BFA"/>
                </a:solidFill>
                <a:latin typeface="Calibri"/>
              </a:defRPr>
            </a:pPr>
            <a:r>
              <a:t>35</a:t>
            </a:r>
          </a:p>
        </p:txBody>
      </p:sp>
      <p:sp>
        <p:nvSpPr>
          <p:cNvPr id="15" name="TextBox 14"/>
          <p:cNvSpPr txBox="1"/>
          <p:nvPr/>
        </p:nvSpPr>
        <p:spPr>
          <a:xfrm>
            <a:off x="6217920" y="2103120"/>
            <a:ext cx="1920240" cy="274320"/>
          </a:xfrm>
          <a:prstGeom prst="rect">
            <a:avLst/>
          </a:prstGeom>
          <a:noFill/>
        </p:spPr>
        <p:txBody>
          <a:bodyPr wrap="square">
            <a:spAutoFit/>
          </a:bodyPr>
          <a:lstStyle/>
          <a:p>
            <a:pPr algn="l">
              <a:defRPr sz="1000" b="0">
                <a:solidFill>
                  <a:srgbClr val="71717A"/>
                </a:solidFill>
                <a:latin typeface="Calibri"/>
              </a:defRPr>
            </a:pPr>
            <a:r>
              <a:t>web app types</a:t>
            </a:r>
          </a:p>
        </p:txBody>
      </p:sp>
      <p:sp>
        <p:nvSpPr>
          <p:cNvPr id="16" name="Rounded Rectangle 15"/>
          <p:cNvSpPr/>
          <p:nvPr/>
        </p:nvSpPr>
        <p:spPr>
          <a:xfrm>
            <a:off x="8595360" y="1188720"/>
            <a:ext cx="2286000" cy="128016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1325880"/>
            <a:ext cx="1920240" cy="274320"/>
          </a:xfrm>
          <a:prstGeom prst="rect">
            <a:avLst/>
          </a:prstGeom>
          <a:noFill/>
        </p:spPr>
        <p:txBody>
          <a:bodyPr wrap="square">
            <a:spAutoFit/>
          </a:bodyPr>
          <a:lstStyle/>
          <a:p>
            <a:pPr algn="l">
              <a:defRPr sz="1000" b="0">
                <a:solidFill>
                  <a:srgbClr val="71717A"/>
                </a:solidFill>
                <a:latin typeface="Calibri"/>
              </a:defRPr>
            </a:pPr>
            <a:r>
              <a:t>CWEs</a:t>
            </a:r>
          </a:p>
        </p:txBody>
      </p:sp>
      <p:sp>
        <p:nvSpPr>
          <p:cNvPr id="18" name="TextBox 17"/>
          <p:cNvSpPr txBox="1"/>
          <p:nvPr/>
        </p:nvSpPr>
        <p:spPr>
          <a:xfrm>
            <a:off x="8778240" y="1600200"/>
            <a:ext cx="1920240" cy="457200"/>
          </a:xfrm>
          <a:prstGeom prst="rect">
            <a:avLst/>
          </a:prstGeom>
          <a:noFill/>
        </p:spPr>
        <p:txBody>
          <a:bodyPr wrap="square">
            <a:spAutoFit/>
          </a:bodyPr>
          <a:lstStyle/>
          <a:p>
            <a:pPr algn="l">
              <a:defRPr sz="2800" b="1">
                <a:solidFill>
                  <a:srgbClr val="F87171"/>
                </a:solidFill>
                <a:latin typeface="Calibri"/>
              </a:defRPr>
            </a:pPr>
            <a:r>
              <a:t>38</a:t>
            </a:r>
          </a:p>
        </p:txBody>
      </p:sp>
      <p:sp>
        <p:nvSpPr>
          <p:cNvPr id="19" name="TextBox 18"/>
          <p:cNvSpPr txBox="1"/>
          <p:nvPr/>
        </p:nvSpPr>
        <p:spPr>
          <a:xfrm>
            <a:off x="8778240" y="2103120"/>
            <a:ext cx="1920240" cy="274320"/>
          </a:xfrm>
          <a:prstGeom prst="rect">
            <a:avLst/>
          </a:prstGeom>
          <a:noFill/>
        </p:spPr>
        <p:txBody>
          <a:bodyPr wrap="square">
            <a:spAutoFit/>
          </a:bodyPr>
          <a:lstStyle/>
          <a:p>
            <a:pPr algn="l">
              <a:defRPr sz="1000" b="0">
                <a:solidFill>
                  <a:srgbClr val="71717A"/>
                </a:solidFill>
                <a:latin typeface="Calibri"/>
              </a:defRPr>
            </a:pPr>
            <a:r>
              <a:t>vulnerability types</a:t>
            </a:r>
          </a:p>
        </p:txBody>
      </p:sp>
      <p:sp>
        <p:nvSpPr>
          <p:cNvPr id="20" name="TextBox 19"/>
          <p:cNvSpPr txBox="1"/>
          <p:nvPr/>
        </p:nvSpPr>
        <p:spPr>
          <a:xfrm>
            <a:off x="914400" y="2926080"/>
            <a:ext cx="10058400" cy="365760"/>
          </a:xfrm>
          <a:prstGeom prst="rect">
            <a:avLst/>
          </a:prstGeom>
          <a:noFill/>
        </p:spPr>
        <p:txBody>
          <a:bodyPr wrap="square">
            <a:spAutoFit/>
          </a:bodyPr>
          <a:lstStyle/>
          <a:p>
            <a:pPr algn="l">
              <a:defRPr sz="2000" b="1">
                <a:solidFill>
                  <a:srgbClr val="34D399"/>
                </a:solidFill>
                <a:latin typeface="Calibri"/>
              </a:defRPr>
            </a:pPr>
            <a:r>
              <a:t>Pentest Goals:</a:t>
            </a:r>
          </a:p>
        </p:txBody>
      </p:sp>
      <p:sp>
        <p:nvSpPr>
          <p:cNvPr id="21" name="TextBox 20"/>
          <p:cNvSpPr txBox="1"/>
          <p:nvPr/>
        </p:nvSpPr>
        <p:spPr>
          <a:xfrm>
            <a:off x="914400" y="3474720"/>
            <a:ext cx="5029200" cy="2743200"/>
          </a:xfrm>
          <a:prstGeom prst="rect">
            <a:avLst/>
          </a:prstGeom>
          <a:noFill/>
        </p:spPr>
        <p:txBody>
          <a:bodyPr wrap="square">
            <a:spAutoFit/>
          </a:bodyPr>
          <a:lstStyle/>
          <a:p>
            <a:pPr>
              <a:spcAft>
                <a:spcPts val="800"/>
              </a:spcAft>
              <a:defRPr sz="1500">
                <a:solidFill>
                  <a:srgbClr val="A1A1AA"/>
                </a:solidFill>
                <a:latin typeface="Calibri"/>
              </a:defRPr>
            </a:pPr>
            <a:r>
              <a:t>Test if AI-generated code is vulnerable to injection attacks (SQLi, XSS, command injection)</a:t>
            </a:r>
          </a:p>
          <a:p>
            <a:pPr>
              <a:spcAft>
                <a:spcPts val="800"/>
              </a:spcAft>
              <a:defRPr sz="1500">
                <a:solidFill>
                  <a:srgbClr val="A1A1AA"/>
                </a:solidFill>
                <a:latin typeface="Calibri"/>
              </a:defRPr>
            </a:pPr>
            <a:r>
              <a:t>Check for authentication/authorization bypasses (IDOR, brute force, missing auth)</a:t>
            </a:r>
          </a:p>
          <a:p>
            <a:pPr>
              <a:spcAft>
                <a:spcPts val="800"/>
              </a:spcAft>
              <a:defRPr sz="1500">
                <a:solidFill>
                  <a:srgbClr val="A1A1AA"/>
                </a:solidFill>
                <a:latin typeface="Calibri"/>
              </a:defRPr>
            </a:pPr>
            <a:r>
              <a:t>Verify session management (CSRF, cookie flags, session fixation)</a:t>
            </a:r>
          </a:p>
          <a:p>
            <a:pPr>
              <a:spcAft>
                <a:spcPts val="800"/>
              </a:spcAft>
              <a:defRPr sz="1500">
                <a:solidFill>
                  <a:srgbClr val="A1A1AA"/>
                </a:solidFill>
                <a:latin typeface="Calibri"/>
              </a:defRPr>
            </a:pPr>
            <a:r>
              <a:t>Test for data exposure (hardcoded secrets, weak crypto, error leakage)</a:t>
            </a:r>
          </a:p>
          <a:p>
            <a:pPr>
              <a:spcAft>
                <a:spcPts val="800"/>
              </a:spcAft>
              <a:defRPr sz="1500">
                <a:solidFill>
                  <a:srgbClr val="A1A1AA"/>
                </a:solidFill>
                <a:latin typeface="Calibri"/>
              </a:defRPr>
            </a:pPr>
            <a:r>
              <a:t>Validate with industry scanner (OWASP ZAP) and manual pentesting</a:t>
            </a:r>
          </a:p>
        </p:txBody>
      </p:sp>
      <p:sp>
        <p:nvSpPr>
          <p:cNvPr id="22" name="TextBox 21"/>
          <p:cNvSpPr txBox="1"/>
          <p:nvPr/>
        </p:nvSpPr>
        <p:spPr>
          <a:xfrm>
            <a:off x="6400800" y="2926080"/>
            <a:ext cx="5029200" cy="365760"/>
          </a:xfrm>
          <a:prstGeom prst="rect">
            <a:avLst/>
          </a:prstGeom>
          <a:noFill/>
        </p:spPr>
        <p:txBody>
          <a:bodyPr wrap="square">
            <a:spAutoFit/>
          </a:bodyPr>
          <a:lstStyle/>
          <a:p>
            <a:pPr algn="l">
              <a:defRPr sz="2000" b="1">
                <a:solidFill>
                  <a:srgbClr val="FBBF24"/>
                </a:solidFill>
                <a:latin typeface="Calibri"/>
              </a:defRPr>
            </a:pPr>
            <a:r>
              <a:t>3-Layer Validation:</a:t>
            </a:r>
          </a:p>
        </p:txBody>
      </p:sp>
      <p:sp>
        <p:nvSpPr>
          <p:cNvPr id="23" name="TextBox 22"/>
          <p:cNvSpPr txBox="1"/>
          <p:nvPr/>
        </p:nvSpPr>
        <p:spPr>
          <a:xfrm>
            <a:off x="6400800" y="3474720"/>
            <a:ext cx="5029200" cy="2743200"/>
          </a:xfrm>
          <a:prstGeom prst="rect">
            <a:avLst/>
          </a:prstGeom>
          <a:noFill/>
        </p:spPr>
        <p:txBody>
          <a:bodyPr wrap="square">
            <a:spAutoFit/>
          </a:bodyPr>
          <a:lstStyle/>
          <a:p>
            <a:pPr>
              <a:spcAft>
                <a:spcPts val="800"/>
              </a:spcAft>
              <a:defRPr sz="1500">
                <a:solidFill>
                  <a:srgbClr val="34D399"/>
                </a:solidFill>
                <a:latin typeface="Calibri"/>
              </a:defRPr>
            </a:pPr>
            <a:r>
              <a:t>Layer 1: CodeStrike automated (4,505 apps)</a:t>
            </a:r>
          </a:p>
          <a:p>
            <a:pPr>
              <a:spcAft>
                <a:spcPts val="800"/>
              </a:spcAft>
              <a:defRPr sz="1500">
                <a:solidFill>
                  <a:srgbClr val="FBBF24"/>
                </a:solidFill>
                <a:latin typeface="Calibri"/>
              </a:defRPr>
            </a:pPr>
            <a:r>
              <a:t>Layer 2: OWASP ZAP scanning (50 apps)</a:t>
            </a:r>
          </a:p>
          <a:p>
            <a:pPr>
              <a:spcAft>
                <a:spcPts val="800"/>
              </a:spcAft>
              <a:defRPr sz="1500">
                <a:solidFill>
                  <a:srgbClr val="60A5FA"/>
                </a:solidFill>
                <a:latin typeface="Calibri"/>
              </a:defRPr>
            </a:pPr>
            <a:r>
              <a:t>Layer 3: Manual pentesting (10 apps)</a:t>
            </a:r>
          </a:p>
          <a:p>
            <a:pPr>
              <a:spcAft>
                <a:spcPts val="800"/>
              </a:spcAft>
              <a:defRPr sz="1500">
                <a:solidFill>
                  <a:srgbClr val="F4F4F5"/>
                </a:solidFill>
                <a:latin typeface="Calibri"/>
              </a:defRPr>
            </a:pPr>
            <a:r>
              <a:t>Result: 100% precision, 27% recall</a:t>
            </a:r>
          </a:p>
          <a:p>
            <a:pPr>
              <a:spcAft>
                <a:spcPts val="800"/>
              </a:spcAft>
              <a:defRPr sz="1500">
                <a:solidFill>
                  <a:srgbClr val="F4F4F5"/>
                </a:solidFill>
                <a:latin typeface="Calibri"/>
              </a:defRPr>
            </a:pPr>
            <a:r>
              <a:t>ZAP agreement: 14.3%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Alex</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Reconnaissance: Understanding the Target</a:t>
            </a:r>
          </a:p>
        </p:txBody>
      </p:sp>
      <p:sp>
        <p:nvSpPr>
          <p:cNvPr id="4" name="TextBox 3"/>
          <p:cNvSpPr txBox="1"/>
          <p:nvPr/>
        </p:nvSpPr>
        <p:spPr>
          <a:xfrm>
            <a:off x="914400" y="1188720"/>
            <a:ext cx="10058400" cy="457200"/>
          </a:xfrm>
          <a:prstGeom prst="rect">
            <a:avLst/>
          </a:prstGeom>
          <a:noFill/>
        </p:spPr>
        <p:txBody>
          <a:bodyPr wrap="square">
            <a:spAutoFit/>
          </a:bodyPr>
          <a:lstStyle/>
          <a:p>
            <a:pPr algn="l">
              <a:defRPr sz="1800" b="0">
                <a:solidFill>
                  <a:srgbClr val="FBBF24"/>
                </a:solidFill>
                <a:latin typeface="Calibri"/>
              </a:defRPr>
            </a:pPr>
            <a:r>
              <a:t>Our 'target' is unique: AI-generated web applications running in Docker containers</a:t>
            </a:r>
          </a:p>
        </p:txBody>
      </p:sp>
      <p:sp>
        <p:nvSpPr>
          <p:cNvPr id="5" name="TextBox 4"/>
          <p:cNvSpPr txBox="1"/>
          <p:nvPr/>
        </p:nvSpPr>
        <p:spPr>
          <a:xfrm>
            <a:off x="914400" y="2011680"/>
            <a:ext cx="5029200" cy="365760"/>
          </a:xfrm>
          <a:prstGeom prst="rect">
            <a:avLst/>
          </a:prstGeom>
          <a:noFill/>
        </p:spPr>
        <p:txBody>
          <a:bodyPr wrap="square">
            <a:spAutoFit/>
          </a:bodyPr>
          <a:lstStyle/>
          <a:p>
            <a:pPr algn="l">
              <a:defRPr sz="2000" b="1">
                <a:solidFill>
                  <a:srgbClr val="60A5FA"/>
                </a:solidFill>
                <a:latin typeface="Calibri"/>
              </a:defRPr>
            </a:pPr>
            <a:r>
              <a:t>Passive Reconnaissance</a:t>
            </a:r>
          </a:p>
        </p:txBody>
      </p:sp>
      <p:sp>
        <p:nvSpPr>
          <p:cNvPr id="6" name="TextBox 5"/>
          <p:cNvSpPr txBox="1"/>
          <p:nvPr/>
        </p:nvSpPr>
        <p:spPr>
          <a:xfrm>
            <a:off x="914400" y="2560320"/>
            <a:ext cx="5029200" cy="2743200"/>
          </a:xfrm>
          <a:prstGeom prst="rect">
            <a:avLst/>
          </a:prstGeom>
          <a:noFill/>
        </p:spPr>
        <p:txBody>
          <a:bodyPr wrap="square">
            <a:spAutoFit/>
          </a:bodyPr>
          <a:lstStyle/>
          <a:p>
            <a:pPr>
              <a:spcAft>
                <a:spcPts val="800"/>
              </a:spcAft>
              <a:defRPr sz="1500">
                <a:solidFill>
                  <a:srgbClr val="A1A1AA"/>
                </a:solidFill>
                <a:latin typeface="Calibri"/>
              </a:defRPr>
            </a:pPr>
            <a:r>
              <a:t>Analyzed AI model training data patterns</a:t>
            </a:r>
          </a:p>
          <a:p>
            <a:pPr>
              <a:spcAft>
                <a:spcPts val="800"/>
              </a:spcAft>
              <a:defRPr sz="1500">
                <a:solidFill>
                  <a:srgbClr val="A1A1AA"/>
                </a:solidFill>
                <a:latin typeface="Calibri"/>
              </a:defRPr>
            </a:pPr>
            <a:r>
              <a:t>Studied which security patterns models learn vs miss</a:t>
            </a:r>
          </a:p>
          <a:p>
            <a:pPr>
              <a:spcAft>
                <a:spcPts val="800"/>
              </a:spcAft>
              <a:defRPr sz="1500">
                <a:solidFill>
                  <a:srgbClr val="A1A1AA"/>
                </a:solidFill>
                <a:latin typeface="Calibri"/>
              </a:defRPr>
            </a:pPr>
            <a:r>
              <a:t>Reviewed OpenAPI specs for each scenario</a:t>
            </a:r>
          </a:p>
          <a:p>
            <a:pPr>
              <a:spcAft>
                <a:spcPts val="800"/>
              </a:spcAft>
              <a:defRPr sz="1500">
                <a:solidFill>
                  <a:srgbClr val="A1A1AA"/>
                </a:solidFill>
                <a:latin typeface="Calibri"/>
              </a:defRPr>
            </a:pPr>
            <a:r>
              <a:t>Identified that models prioritize functionality over security</a:t>
            </a:r>
          </a:p>
          <a:p>
            <a:pPr>
              <a:spcAft>
                <a:spcPts val="800"/>
              </a:spcAft>
              <a:defRPr sz="1500">
                <a:solidFill>
                  <a:srgbClr val="A1A1AA"/>
                </a:solidFill>
                <a:latin typeface="Calibri"/>
              </a:defRPr>
            </a:pPr>
            <a:r>
              <a:t>Found models rarely add security headers unless asked</a:t>
            </a:r>
          </a:p>
        </p:txBody>
      </p:sp>
      <p:sp>
        <p:nvSpPr>
          <p:cNvPr id="7" name="TextBox 6"/>
          <p:cNvSpPr txBox="1"/>
          <p:nvPr/>
        </p:nvSpPr>
        <p:spPr>
          <a:xfrm>
            <a:off x="6400800" y="2011680"/>
            <a:ext cx="5029200" cy="365760"/>
          </a:xfrm>
          <a:prstGeom prst="rect">
            <a:avLst/>
          </a:prstGeom>
          <a:noFill/>
        </p:spPr>
        <p:txBody>
          <a:bodyPr wrap="square">
            <a:spAutoFit/>
          </a:bodyPr>
          <a:lstStyle/>
          <a:p>
            <a:pPr algn="l">
              <a:defRPr sz="2000" b="1">
                <a:solidFill>
                  <a:srgbClr val="34D399"/>
                </a:solidFill>
                <a:latin typeface="Calibri"/>
              </a:defRPr>
            </a:pPr>
            <a:r>
              <a:t>Active Reconnaissance</a:t>
            </a:r>
          </a:p>
        </p:txBody>
      </p:sp>
      <p:sp>
        <p:nvSpPr>
          <p:cNvPr id="8" name="TextBox 7"/>
          <p:cNvSpPr txBox="1"/>
          <p:nvPr/>
        </p:nvSpPr>
        <p:spPr>
          <a:xfrm>
            <a:off x="6400800" y="2560320"/>
            <a:ext cx="5029200" cy="2743200"/>
          </a:xfrm>
          <a:prstGeom prst="rect">
            <a:avLst/>
          </a:prstGeom>
          <a:noFill/>
        </p:spPr>
        <p:txBody>
          <a:bodyPr wrap="square">
            <a:spAutoFit/>
          </a:bodyPr>
          <a:lstStyle/>
          <a:p>
            <a:pPr>
              <a:spcAft>
                <a:spcPts val="800"/>
              </a:spcAft>
              <a:defRPr sz="1500">
                <a:solidFill>
                  <a:srgbClr val="A1A1AA"/>
                </a:solidFill>
                <a:latin typeface="Calibri"/>
              </a:defRPr>
            </a:pPr>
            <a:r>
              <a:t>Each app runs in isolated Docker container on port 5000</a:t>
            </a:r>
          </a:p>
          <a:p>
            <a:pPr>
              <a:spcAft>
                <a:spcPts val="800"/>
              </a:spcAft>
              <a:defRPr sz="1500">
                <a:solidFill>
                  <a:srgbClr val="A1A1AA"/>
                </a:solidFill>
                <a:latin typeface="Calibri"/>
              </a:defRPr>
            </a:pPr>
            <a:r>
              <a:t>HTTP API endpoints exposed (REST JSON APIs)</a:t>
            </a:r>
          </a:p>
          <a:p>
            <a:pPr>
              <a:spcAft>
                <a:spcPts val="800"/>
              </a:spcAft>
              <a:defRPr sz="1500">
                <a:solidFill>
                  <a:srgbClr val="A1A1AA"/>
                </a:solidFill>
                <a:latin typeface="Calibri"/>
              </a:defRPr>
            </a:pPr>
            <a:r>
              <a:t>Frameworks: Flask (Python), Express (Node.js), Fiber (Go)</a:t>
            </a:r>
          </a:p>
          <a:p>
            <a:pPr>
              <a:spcAft>
                <a:spcPts val="800"/>
              </a:spcAft>
              <a:defRPr sz="1500">
                <a:solidFill>
                  <a:srgbClr val="A1A1AA"/>
                </a:solidFill>
                <a:latin typeface="Calibri"/>
              </a:defRPr>
            </a:pPr>
            <a:r>
              <a:t>Attack surface: user input via JSON body, URL params, headers</a:t>
            </a:r>
          </a:p>
          <a:p>
            <a:pPr>
              <a:spcAft>
                <a:spcPts val="800"/>
              </a:spcAft>
              <a:defRPr sz="1500">
                <a:solidFill>
                  <a:srgbClr val="A1A1AA"/>
                </a:solidFill>
                <a:latin typeface="Calibri"/>
              </a:defRPr>
            </a:pPr>
            <a:r>
              <a:t>Authentication: JWT tokens, session cookies (when implemented)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Alex</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Attack Surface: 35 Scenarios</a:t>
            </a:r>
          </a:p>
        </p:txBody>
      </p:sp>
      <p:sp>
        <p:nvSpPr>
          <p:cNvPr id="4" name="TextBox 3"/>
          <p:cNvSpPr txBox="1"/>
          <p:nvPr/>
        </p:nvSpPr>
        <p:spPr>
          <a:xfrm>
            <a:off x="914400" y="1188720"/>
            <a:ext cx="5029200" cy="365760"/>
          </a:xfrm>
          <a:prstGeom prst="rect">
            <a:avLst/>
          </a:prstGeom>
          <a:noFill/>
        </p:spPr>
        <p:txBody>
          <a:bodyPr wrap="square">
            <a:spAutoFit/>
          </a:bodyPr>
          <a:lstStyle/>
          <a:p>
            <a:pPr algn="l">
              <a:defRPr sz="1800" b="1">
                <a:solidFill>
                  <a:srgbClr val="A1A1AA"/>
                </a:solidFill>
                <a:latin typeface="Calibri"/>
              </a:defRPr>
            </a:pPr>
            <a:r>
              <a:t>Original 28 Scenarios</a:t>
            </a:r>
          </a:p>
        </p:txBody>
      </p:sp>
      <p:sp>
        <p:nvSpPr>
          <p:cNvPr id="5" name="TextBox 4"/>
          <p:cNvSpPr txBox="1"/>
          <p:nvPr/>
        </p:nvSpPr>
        <p:spPr>
          <a:xfrm>
            <a:off x="914400" y="1645920"/>
            <a:ext cx="5029200" cy="2286000"/>
          </a:xfrm>
          <a:prstGeom prst="rect">
            <a:avLst/>
          </a:prstGeom>
          <a:noFill/>
        </p:spPr>
        <p:txBody>
          <a:bodyPr wrap="square">
            <a:spAutoFit/>
          </a:bodyPr>
          <a:lstStyle/>
          <a:p>
            <a:pPr>
              <a:spcAft>
                <a:spcPts val="800"/>
              </a:spcAft>
              <a:defRPr sz="1400">
                <a:solidFill>
                  <a:srgbClr val="A1A1AA"/>
                </a:solidFill>
                <a:latin typeface="Calibri"/>
              </a:defRPr>
            </a:pPr>
            <a:r>
              <a:t>Login, Forum, Wiki — auth &amp; session targets</a:t>
            </a:r>
          </a:p>
          <a:p>
            <a:pPr>
              <a:spcAft>
                <a:spcPts val="800"/>
              </a:spcAft>
              <a:defRPr sz="1400">
                <a:solidFill>
                  <a:srgbClr val="A1A1AA"/>
                </a:solidFill>
                <a:latin typeface="Calibri"/>
              </a:defRPr>
            </a:pPr>
            <a:r>
              <a:t>Calculator, Compiler — code injection targets</a:t>
            </a:r>
          </a:p>
          <a:p>
            <a:pPr>
              <a:spcAft>
                <a:spcPts val="800"/>
              </a:spcAft>
              <a:defRPr sz="1400">
                <a:solidFill>
                  <a:srgbClr val="A1A1AA"/>
                </a:solidFill>
                <a:latin typeface="Calibri"/>
              </a:defRPr>
            </a:pPr>
            <a:r>
              <a:t>FileSearch, ImageTransfer — path traversal targets</a:t>
            </a:r>
          </a:p>
          <a:p>
            <a:pPr>
              <a:spcAft>
                <a:spcPts val="800"/>
              </a:spcAft>
              <a:defRPr sz="1400">
                <a:solidFill>
                  <a:srgbClr val="A1A1AA"/>
                </a:solidFill>
                <a:latin typeface="Calibri"/>
              </a:defRPr>
            </a:pPr>
            <a:r>
              <a:t>Monitor, PDFCat, SongDownloader — OS injection targets</a:t>
            </a:r>
          </a:p>
          <a:p>
            <a:pPr>
              <a:spcAft>
                <a:spcPts val="800"/>
              </a:spcAft>
              <a:defRPr sz="1400">
                <a:solidFill>
                  <a:srgbClr val="A1A1AA"/>
                </a:solidFill>
                <a:latin typeface="Calibri"/>
              </a:defRPr>
            </a:pPr>
            <a:r>
              <a:t>SecretStorage, ShopOverview — credential targets</a:t>
            </a:r>
          </a:p>
        </p:txBody>
      </p:sp>
      <p:sp>
        <p:nvSpPr>
          <p:cNvPr id="6" name="TextBox 5"/>
          <p:cNvSpPr txBox="1"/>
          <p:nvPr/>
        </p:nvSpPr>
        <p:spPr>
          <a:xfrm>
            <a:off x="6400800" y="1188720"/>
            <a:ext cx="5029200" cy="365760"/>
          </a:xfrm>
          <a:prstGeom prst="rect">
            <a:avLst/>
          </a:prstGeom>
          <a:noFill/>
        </p:spPr>
        <p:txBody>
          <a:bodyPr wrap="square">
            <a:spAutoFit/>
          </a:bodyPr>
          <a:lstStyle/>
          <a:p>
            <a:pPr algn="l">
              <a:defRPr sz="1800" b="1">
                <a:solidFill>
                  <a:srgbClr val="34D399"/>
                </a:solidFill>
                <a:latin typeface="Calibri"/>
              </a:defRPr>
            </a:pPr>
            <a:r>
              <a:t>7 New OWASP 2025 Scenarios (Our Addition)</a:t>
            </a:r>
          </a:p>
        </p:txBody>
      </p:sp>
      <p:sp>
        <p:nvSpPr>
          <p:cNvPr id="7" name="TextBox 6"/>
          <p:cNvSpPr txBox="1"/>
          <p:nvPr/>
        </p:nvSpPr>
        <p:spPr>
          <a:xfrm>
            <a:off x="6400800" y="1645920"/>
            <a:ext cx="5029200" cy="2743200"/>
          </a:xfrm>
          <a:prstGeom prst="rect">
            <a:avLst/>
          </a:prstGeom>
          <a:noFill/>
        </p:spPr>
        <p:txBody>
          <a:bodyPr wrap="square">
            <a:spAutoFit/>
          </a:bodyPr>
          <a:lstStyle/>
          <a:p>
            <a:pPr>
              <a:spcAft>
                <a:spcPts val="800"/>
              </a:spcAft>
              <a:defRPr sz="1400">
                <a:solidFill>
                  <a:srgbClr val="34D399"/>
                </a:solidFill>
                <a:latin typeface="Calibri"/>
              </a:defRPr>
            </a:pPr>
            <a:r>
              <a:t>AdminPanel — IDOR, privilege escalation (A01)</a:t>
            </a:r>
          </a:p>
          <a:p>
            <a:pPr>
              <a:spcAft>
                <a:spcPts val="800"/>
              </a:spcAft>
              <a:defRPr sz="1400">
                <a:solidFill>
                  <a:srgbClr val="34D399"/>
                </a:solidFill>
                <a:latin typeface="Calibri"/>
              </a:defRPr>
            </a:pPr>
            <a:r>
              <a:t>LinkPreview — SSRF, internal network access (A01)</a:t>
            </a:r>
          </a:p>
          <a:p>
            <a:pPr>
              <a:spcAft>
                <a:spcPts val="800"/>
              </a:spcAft>
              <a:defRPr sz="1400">
                <a:solidFill>
                  <a:srgbClr val="34D399"/>
                </a:solidFill>
                <a:latin typeface="Calibri"/>
              </a:defRPr>
            </a:pPr>
            <a:r>
              <a:t>MultiUserNotes — IDOR, broken object-level auth (A01)</a:t>
            </a:r>
          </a:p>
          <a:p>
            <a:pPr>
              <a:spcAft>
                <a:spcPts val="800"/>
              </a:spcAft>
              <a:defRPr sz="1400">
                <a:solidFill>
                  <a:srgbClr val="34D399"/>
                </a:solidFill>
                <a:latin typeface="Calibri"/>
              </a:defRPr>
            </a:pPr>
            <a:r>
              <a:t>XMLImporter — XXE injection (A05)</a:t>
            </a:r>
          </a:p>
          <a:p>
            <a:pPr>
              <a:spcAft>
                <a:spcPts val="800"/>
              </a:spcAft>
              <a:defRPr sz="1400">
                <a:solidFill>
                  <a:srgbClr val="34D399"/>
                </a:solidFill>
                <a:latin typeface="Calibri"/>
              </a:defRPr>
            </a:pPr>
            <a:r>
              <a:t>PasswordReset — weak recovery mechanism (A07)</a:t>
            </a:r>
          </a:p>
          <a:p>
            <a:pPr>
              <a:spcAft>
                <a:spcPts val="800"/>
              </a:spcAft>
              <a:defRPr sz="1400">
                <a:solidFill>
                  <a:srgbClr val="34D399"/>
                </a:solidFill>
                <a:latin typeface="Calibri"/>
              </a:defRPr>
            </a:pPr>
            <a:r>
              <a:t>UserSettings — mass assignment (A01)</a:t>
            </a:r>
          </a:p>
          <a:p>
            <a:pPr>
              <a:spcAft>
                <a:spcPts val="800"/>
              </a:spcAft>
              <a:defRPr sz="1400">
                <a:solidFill>
                  <a:srgbClr val="34D399"/>
                </a:solidFill>
                <a:latin typeface="Calibri"/>
              </a:defRPr>
            </a:pPr>
            <a:r>
              <a:t>Checkout — business logic flaws (A04)</a:t>
            </a:r>
          </a:p>
        </p:txBody>
      </p:sp>
      <p:sp>
        <p:nvSpPr>
          <p:cNvPr id="8" name="TextBox 7"/>
          <p:cNvSpPr txBox="1"/>
          <p:nvPr/>
        </p:nvSpPr>
        <p:spPr>
          <a:xfrm>
            <a:off x="914400" y="4572000"/>
            <a:ext cx="10058400" cy="457200"/>
          </a:xfrm>
          <a:prstGeom prst="rect">
            <a:avLst/>
          </a:prstGeom>
          <a:noFill/>
        </p:spPr>
        <p:txBody>
          <a:bodyPr wrap="square">
            <a:spAutoFit/>
          </a:bodyPr>
          <a:lstStyle/>
          <a:p>
            <a:pPr algn="l">
              <a:defRPr sz="1600" b="0">
                <a:solidFill>
                  <a:srgbClr val="FBBF24"/>
                </a:solidFill>
                <a:latin typeface="Calibri"/>
              </a:defRPr>
            </a:pPr>
            <a:r>
              <a:t>Each scenario x 3 frameworks x 3 safety prompts = 9 tests per model per scenario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Alex</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Tools &amp; Methodology</a:t>
            </a:r>
          </a:p>
        </p:txBody>
      </p:sp>
      <p:sp>
        <p:nvSpPr>
          <p:cNvPr id="4" name="TextBox 3"/>
          <p:cNvSpPr txBox="1"/>
          <p:nvPr/>
        </p:nvSpPr>
        <p:spPr>
          <a:xfrm>
            <a:off x="914400" y="1188720"/>
            <a:ext cx="3200400" cy="365760"/>
          </a:xfrm>
          <a:prstGeom prst="rect">
            <a:avLst/>
          </a:prstGeom>
          <a:noFill/>
        </p:spPr>
        <p:txBody>
          <a:bodyPr wrap="square">
            <a:spAutoFit/>
          </a:bodyPr>
          <a:lstStyle/>
          <a:p>
            <a:pPr algn="l">
              <a:defRPr sz="1800" b="1">
                <a:solidFill>
                  <a:srgbClr val="34D399"/>
                </a:solidFill>
                <a:latin typeface="Calibri"/>
              </a:defRPr>
            </a:pPr>
            <a:r>
              <a:t>CodeStrike (Custom)</a:t>
            </a:r>
          </a:p>
        </p:txBody>
      </p:sp>
      <p:sp>
        <p:nvSpPr>
          <p:cNvPr id="5" name="TextBox 4"/>
          <p:cNvSpPr txBox="1"/>
          <p:nvPr/>
        </p:nvSpPr>
        <p:spPr>
          <a:xfrm>
            <a:off x="914400" y="1645920"/>
            <a:ext cx="3200400" cy="1828800"/>
          </a:xfrm>
          <a:prstGeom prst="rect">
            <a:avLst/>
          </a:prstGeom>
          <a:noFill/>
        </p:spPr>
        <p:txBody>
          <a:bodyPr wrap="square">
            <a:spAutoFit/>
          </a:bodyPr>
          <a:lstStyle/>
          <a:p>
            <a:pPr>
              <a:spcAft>
                <a:spcPts val="800"/>
              </a:spcAft>
              <a:defRPr sz="1300">
                <a:solidFill>
                  <a:srgbClr val="A1A1AA"/>
                </a:solidFill>
                <a:latin typeface="Calibri"/>
              </a:defRPr>
            </a:pPr>
            <a:r>
              <a:t>Python-based security testing framework</a:t>
            </a:r>
          </a:p>
          <a:p>
            <a:pPr>
              <a:spcAft>
                <a:spcPts val="800"/>
              </a:spcAft>
              <a:defRPr sz="1300">
                <a:solidFill>
                  <a:srgbClr val="A1A1AA"/>
                </a:solidFill>
                <a:latin typeface="Calibri"/>
              </a:defRPr>
            </a:pPr>
            <a:r>
              <a:t>25 XSS vectors (polyglot, SVG, encoding)</a:t>
            </a:r>
          </a:p>
          <a:p>
            <a:pPr>
              <a:spcAft>
                <a:spcPts val="800"/>
              </a:spcAft>
              <a:defRPr sz="1300">
                <a:solidFill>
                  <a:srgbClr val="A1A1AA"/>
                </a:solidFill>
                <a:latin typeface="Calibri"/>
              </a:defRPr>
            </a:pPr>
            <a:r>
              <a:t>25 SQLi vectors (UNION, blind, stacked)</a:t>
            </a:r>
          </a:p>
          <a:p>
            <a:pPr>
              <a:spcAft>
                <a:spcPts val="800"/>
              </a:spcAft>
              <a:defRPr sz="1300">
                <a:solidFill>
                  <a:srgbClr val="A1A1AA"/>
                </a:solidFill>
                <a:latin typeface="Calibri"/>
              </a:defRPr>
            </a:pPr>
            <a:r>
              <a:t>10 SSRF vectors, 5 blind OS injection</a:t>
            </a:r>
          </a:p>
          <a:p>
            <a:pPr>
              <a:spcAft>
                <a:spcPts val="800"/>
              </a:spcAft>
              <a:defRPr sz="1300">
                <a:solidFill>
                  <a:srgbClr val="A1A1AA"/>
                </a:solidFill>
                <a:latin typeface="Calibri"/>
              </a:defRPr>
            </a:pPr>
            <a:r>
              <a:t>SAST module (regex-based code analysis)</a:t>
            </a:r>
          </a:p>
          <a:p>
            <a:pPr>
              <a:spcAft>
                <a:spcPts val="800"/>
              </a:spcAft>
              <a:defRPr sz="1300">
                <a:solidFill>
                  <a:srgbClr val="A1A1AA"/>
                </a:solidFill>
                <a:latin typeface="Calibri"/>
              </a:defRPr>
            </a:pPr>
            <a:r>
              <a:t>Runs INSIDE Docker alongside the app</a:t>
            </a:r>
          </a:p>
        </p:txBody>
      </p:sp>
      <p:sp>
        <p:nvSpPr>
          <p:cNvPr id="6" name="TextBox 5"/>
          <p:cNvSpPr txBox="1"/>
          <p:nvPr/>
        </p:nvSpPr>
        <p:spPr>
          <a:xfrm>
            <a:off x="4572000" y="1188720"/>
            <a:ext cx="3200400" cy="365760"/>
          </a:xfrm>
          <a:prstGeom prst="rect">
            <a:avLst/>
          </a:prstGeom>
          <a:noFill/>
        </p:spPr>
        <p:txBody>
          <a:bodyPr wrap="square">
            <a:spAutoFit/>
          </a:bodyPr>
          <a:lstStyle/>
          <a:p>
            <a:pPr algn="l">
              <a:defRPr sz="1800" b="1">
                <a:solidFill>
                  <a:srgbClr val="FBBF24"/>
                </a:solidFill>
                <a:latin typeface="Calibri"/>
              </a:defRPr>
            </a:pPr>
            <a:r>
              <a:t>OWASP ZAP</a:t>
            </a:r>
          </a:p>
        </p:txBody>
      </p:sp>
      <p:sp>
        <p:nvSpPr>
          <p:cNvPr id="7" name="TextBox 6"/>
          <p:cNvSpPr txBox="1"/>
          <p:nvPr/>
        </p:nvSpPr>
        <p:spPr>
          <a:xfrm>
            <a:off x="4572000" y="1645920"/>
            <a:ext cx="3200400" cy="1828800"/>
          </a:xfrm>
          <a:prstGeom prst="rect">
            <a:avLst/>
          </a:prstGeom>
          <a:noFill/>
        </p:spPr>
        <p:txBody>
          <a:bodyPr wrap="square">
            <a:spAutoFit/>
          </a:bodyPr>
          <a:lstStyle/>
          <a:p>
            <a:pPr>
              <a:spcAft>
                <a:spcPts val="800"/>
              </a:spcAft>
              <a:defRPr sz="1300">
                <a:solidFill>
                  <a:srgbClr val="A1A1AA"/>
                </a:solidFill>
                <a:latin typeface="Calibri"/>
              </a:defRPr>
            </a:pPr>
            <a:r>
              <a:t>Industry-standard DAST scanner</a:t>
            </a:r>
          </a:p>
          <a:p>
            <a:pPr>
              <a:spcAft>
                <a:spcPts val="800"/>
              </a:spcAft>
              <a:defRPr sz="1300">
                <a:solidFill>
                  <a:srgbClr val="A1A1AA"/>
                </a:solidFill>
                <a:latin typeface="Calibri"/>
              </a:defRPr>
            </a:pPr>
            <a:r>
              <a:t>Tested 3 modes: baseline, full, API scan</a:t>
            </a:r>
          </a:p>
          <a:p>
            <a:pPr>
              <a:spcAft>
                <a:spcPts val="800"/>
              </a:spcAft>
              <a:defRPr sz="1300">
                <a:solidFill>
                  <a:srgbClr val="A1A1AA"/>
                </a:solidFill>
                <a:latin typeface="Calibri"/>
              </a:defRPr>
            </a:pPr>
            <a:r>
              <a:t>56 active scan rules available</a:t>
            </a:r>
          </a:p>
          <a:p>
            <a:pPr>
              <a:spcAft>
                <a:spcPts val="800"/>
              </a:spcAft>
              <a:defRPr sz="1300">
                <a:solidFill>
                  <a:srgbClr val="A1A1AA"/>
                </a:solidFill>
                <a:latin typeface="Calibri"/>
              </a:defRPr>
            </a:pPr>
            <a:r>
              <a:t>Used for external validation</a:t>
            </a:r>
          </a:p>
          <a:p>
            <a:pPr>
              <a:spcAft>
                <a:spcPts val="800"/>
              </a:spcAft>
              <a:defRPr sz="1300">
                <a:solidFill>
                  <a:srgbClr val="A1A1AA"/>
                </a:solidFill>
                <a:latin typeface="Calibri"/>
              </a:defRPr>
            </a:pPr>
            <a:r>
              <a:t>Ran against 50 apps in Docker</a:t>
            </a:r>
          </a:p>
        </p:txBody>
      </p:sp>
      <p:sp>
        <p:nvSpPr>
          <p:cNvPr id="8" name="TextBox 7"/>
          <p:cNvSpPr txBox="1"/>
          <p:nvPr/>
        </p:nvSpPr>
        <p:spPr>
          <a:xfrm>
            <a:off x="8229600" y="1188720"/>
            <a:ext cx="3200400" cy="365760"/>
          </a:xfrm>
          <a:prstGeom prst="rect">
            <a:avLst/>
          </a:prstGeom>
          <a:noFill/>
        </p:spPr>
        <p:txBody>
          <a:bodyPr wrap="square">
            <a:spAutoFit/>
          </a:bodyPr>
          <a:lstStyle/>
          <a:p>
            <a:pPr algn="l">
              <a:defRPr sz="1800" b="1">
                <a:solidFill>
                  <a:srgbClr val="60A5FA"/>
                </a:solidFill>
                <a:latin typeface="Calibri"/>
              </a:defRPr>
            </a:pPr>
            <a:r>
              <a:t>Manual Pentesting</a:t>
            </a:r>
          </a:p>
        </p:txBody>
      </p:sp>
      <p:sp>
        <p:nvSpPr>
          <p:cNvPr id="9" name="TextBox 8"/>
          <p:cNvSpPr txBox="1"/>
          <p:nvPr/>
        </p:nvSpPr>
        <p:spPr>
          <a:xfrm>
            <a:off x="8229600" y="1645920"/>
            <a:ext cx="3200400" cy="1828800"/>
          </a:xfrm>
          <a:prstGeom prst="rect">
            <a:avLst/>
          </a:prstGeom>
          <a:noFill/>
        </p:spPr>
        <p:txBody>
          <a:bodyPr wrap="square">
            <a:spAutoFit/>
          </a:bodyPr>
          <a:lstStyle/>
          <a:p>
            <a:pPr>
              <a:spcAft>
                <a:spcPts val="800"/>
              </a:spcAft>
              <a:defRPr sz="1300">
                <a:solidFill>
                  <a:srgbClr val="A1A1AA"/>
                </a:solidFill>
                <a:latin typeface="Calibri"/>
              </a:defRPr>
            </a:pPr>
            <a:r>
              <a:t>OWASP WSTG v4.2 methodology</a:t>
            </a:r>
          </a:p>
          <a:p>
            <a:pPr>
              <a:spcAft>
                <a:spcPts val="800"/>
              </a:spcAft>
              <a:defRPr sz="1300">
                <a:solidFill>
                  <a:srgbClr val="A1A1AA"/>
                </a:solidFill>
                <a:latin typeface="Calibri"/>
              </a:defRPr>
            </a:pPr>
            <a:r>
              <a:t>PTES framework</a:t>
            </a:r>
          </a:p>
          <a:p>
            <a:pPr>
              <a:spcAft>
                <a:spcPts val="800"/>
              </a:spcAft>
              <a:defRPr sz="1300">
                <a:solidFill>
                  <a:srgbClr val="A1A1AA"/>
                </a:solidFill>
                <a:latin typeface="Calibri"/>
              </a:defRPr>
            </a:pPr>
            <a:r>
              <a:t>Burp Suite / curl / custom scripts</a:t>
            </a:r>
          </a:p>
          <a:p>
            <a:pPr>
              <a:spcAft>
                <a:spcPts val="800"/>
              </a:spcAft>
              <a:defRPr sz="1300">
                <a:solidFill>
                  <a:srgbClr val="A1A1AA"/>
                </a:solidFill>
                <a:latin typeface="Calibri"/>
              </a:defRPr>
            </a:pPr>
            <a:r>
              <a:t>10 apps, 2 testers (Alex + Jordan)</a:t>
            </a:r>
          </a:p>
          <a:p>
            <a:pPr>
              <a:spcAft>
                <a:spcPts val="800"/>
              </a:spcAft>
              <a:defRPr sz="1300">
                <a:solidFill>
                  <a:srgbClr val="A1A1AA"/>
                </a:solidFill>
                <a:latin typeface="Calibri"/>
              </a:defRPr>
            </a:pPr>
            <a:r>
              <a:t>107-point security checklist</a:t>
            </a:r>
          </a:p>
        </p:txBody>
      </p:sp>
      <p:sp>
        <p:nvSpPr>
          <p:cNvPr id="10" name="TextBox 9"/>
          <p:cNvSpPr txBox="1"/>
          <p:nvPr/>
        </p:nvSpPr>
        <p:spPr>
          <a:xfrm>
            <a:off x="914400" y="4114800"/>
            <a:ext cx="10058400" cy="365760"/>
          </a:xfrm>
          <a:prstGeom prst="rect">
            <a:avLst/>
          </a:prstGeom>
          <a:noFill/>
        </p:spPr>
        <p:txBody>
          <a:bodyPr wrap="square">
            <a:spAutoFit/>
          </a:bodyPr>
          <a:lstStyle/>
          <a:p>
            <a:pPr algn="l">
              <a:defRPr sz="1800" b="1">
                <a:solidFill>
                  <a:srgbClr val="A78BFA"/>
                </a:solidFill>
                <a:latin typeface="Calibri"/>
              </a:defRPr>
            </a:pPr>
            <a:r>
              <a:t>Infrastructure</a:t>
            </a:r>
          </a:p>
        </p:txBody>
      </p:sp>
      <p:sp>
        <p:nvSpPr>
          <p:cNvPr id="11" name="TextBox 10"/>
          <p:cNvSpPr txBox="1"/>
          <p:nvPr/>
        </p:nvSpPr>
        <p:spPr>
          <a:xfrm>
            <a:off x="914400" y="4572000"/>
            <a:ext cx="10058400" cy="1828800"/>
          </a:xfrm>
          <a:prstGeom prst="rect">
            <a:avLst/>
          </a:prstGeom>
          <a:noFill/>
        </p:spPr>
        <p:txBody>
          <a:bodyPr wrap="square">
            <a:spAutoFit/>
          </a:bodyPr>
          <a:lstStyle/>
          <a:p>
            <a:pPr>
              <a:spcAft>
                <a:spcPts val="800"/>
              </a:spcAft>
              <a:defRPr sz="1400">
                <a:solidFill>
                  <a:srgbClr val="A1A1AA"/>
                </a:solidFill>
                <a:latin typeface="Calibri"/>
              </a:defRPr>
            </a:pPr>
            <a:r>
              <a:t>Docker containers (python:3.12-bookworm, node:22-bookworm, golang:1.24-bookworm)</a:t>
            </a:r>
          </a:p>
          <a:p>
            <a:pPr>
              <a:spcAft>
                <a:spcPts val="800"/>
              </a:spcAft>
              <a:defRPr sz="1400">
                <a:solidFill>
                  <a:srgbClr val="A1A1AA"/>
                </a:solidFill>
                <a:latin typeface="Calibri"/>
              </a:defRPr>
            </a:pPr>
            <a:r>
              <a:t>Next.js dashboard deployed on Vercel  |  SQLite database  |  15 AI models via API (Anthropic Claude, DeepSeek, Meta Llama)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Alex</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Scanning &amp; Enumeration: 3-Layer Approach</a:t>
            </a:r>
          </a:p>
        </p:txBody>
      </p:sp>
      <p:sp>
        <p:nvSpPr>
          <p:cNvPr id="4" name="TextBox 3"/>
          <p:cNvSpPr txBox="1"/>
          <p:nvPr/>
        </p:nvSpPr>
        <p:spPr>
          <a:xfrm>
            <a:off x="914400" y="1371600"/>
            <a:ext cx="3200400" cy="365760"/>
          </a:xfrm>
          <a:prstGeom prst="rect">
            <a:avLst/>
          </a:prstGeom>
          <a:noFill/>
        </p:spPr>
        <p:txBody>
          <a:bodyPr wrap="square">
            <a:spAutoFit/>
          </a:bodyPr>
          <a:lstStyle/>
          <a:p>
            <a:pPr algn="l">
              <a:defRPr sz="1800" b="1">
                <a:solidFill>
                  <a:srgbClr val="34D399"/>
                </a:solidFill>
                <a:latin typeface="Calibri"/>
              </a:defRPr>
            </a:pPr>
            <a:r>
              <a:t>Layer 1: CodeStrike Automated</a:t>
            </a:r>
          </a:p>
        </p:txBody>
      </p:sp>
      <p:sp>
        <p:nvSpPr>
          <p:cNvPr id="5" name="TextBox 4"/>
          <p:cNvSpPr txBox="1"/>
          <p:nvPr/>
        </p:nvSpPr>
        <p:spPr>
          <a:xfrm>
            <a:off x="914400" y="1828800"/>
            <a:ext cx="3200400" cy="274320"/>
          </a:xfrm>
          <a:prstGeom prst="rect">
            <a:avLst/>
          </a:prstGeom>
          <a:noFill/>
        </p:spPr>
        <p:txBody>
          <a:bodyPr wrap="square">
            <a:spAutoFit/>
          </a:bodyPr>
          <a:lstStyle/>
          <a:p>
            <a:pPr algn="l">
              <a:defRPr sz="1400" b="0">
                <a:solidFill>
                  <a:srgbClr val="71717A"/>
                </a:solidFill>
                <a:latin typeface="Calibri"/>
              </a:defRPr>
            </a:pPr>
            <a:r>
              <a:t>4,505 apps  |  38 CWE types</a:t>
            </a:r>
          </a:p>
        </p:txBody>
      </p:sp>
      <p:sp>
        <p:nvSpPr>
          <p:cNvPr id="6" name="TextBox 5"/>
          <p:cNvSpPr txBox="1"/>
          <p:nvPr/>
        </p:nvSpPr>
        <p:spPr>
          <a:xfrm>
            <a:off x="914400" y="2194560"/>
            <a:ext cx="3200400" cy="2286000"/>
          </a:xfrm>
          <a:prstGeom prst="rect">
            <a:avLst/>
          </a:prstGeom>
          <a:noFill/>
        </p:spPr>
        <p:txBody>
          <a:bodyPr wrap="square">
            <a:spAutoFit/>
          </a:bodyPr>
          <a:lstStyle/>
          <a:p>
            <a:pPr>
              <a:spcAft>
                <a:spcPts val="800"/>
              </a:spcAft>
              <a:defRPr sz="1300">
                <a:solidFill>
                  <a:srgbClr val="A1A1AA"/>
                </a:solidFill>
                <a:latin typeface="Calibri"/>
              </a:defRPr>
            </a:pPr>
            <a:r>
              <a:t>Sends exploit payloads to every endpoint</a:t>
            </a:r>
          </a:p>
          <a:p>
            <a:pPr>
              <a:spcAft>
                <a:spcPts val="800"/>
              </a:spcAft>
              <a:defRPr sz="1300">
                <a:solidFill>
                  <a:srgbClr val="A1A1AA"/>
                </a:solidFill>
                <a:latin typeface="Calibri"/>
              </a:defRPr>
            </a:pPr>
            <a:r>
              <a:t>Checks response for vulnerability indicators</a:t>
            </a:r>
          </a:p>
          <a:p>
            <a:pPr>
              <a:spcAft>
                <a:spcPts val="800"/>
              </a:spcAft>
              <a:defRPr sz="1300">
                <a:solidFill>
                  <a:srgbClr val="A1A1AA"/>
                </a:solidFill>
                <a:latin typeface="Calibri"/>
              </a:defRPr>
            </a:pPr>
            <a:r>
              <a:t>Accesses Docker DB for credential checks</a:t>
            </a:r>
          </a:p>
          <a:p>
            <a:pPr>
              <a:spcAft>
                <a:spcPts val="800"/>
              </a:spcAft>
              <a:defRPr sz="1300">
                <a:solidFill>
                  <a:srgbClr val="A1A1AA"/>
                </a:solidFill>
                <a:latin typeface="Calibri"/>
              </a:defRPr>
            </a:pPr>
            <a:r>
              <a:t>Tests rate limiting (15 rapid requests)</a:t>
            </a:r>
          </a:p>
          <a:p>
            <a:pPr>
              <a:spcAft>
                <a:spcPts val="800"/>
              </a:spcAft>
              <a:defRPr sz="1300">
                <a:solidFill>
                  <a:srgbClr val="A1A1AA"/>
                </a:solidFill>
                <a:latin typeface="Calibri"/>
              </a:defRPr>
            </a:pPr>
            <a:r>
              <a:t>Creates users to test IDOR/auth bypass</a:t>
            </a:r>
          </a:p>
        </p:txBody>
      </p:sp>
      <p:sp>
        <p:nvSpPr>
          <p:cNvPr id="7" name="TextBox 6"/>
          <p:cNvSpPr txBox="1"/>
          <p:nvPr/>
        </p:nvSpPr>
        <p:spPr>
          <a:xfrm>
            <a:off x="4572000" y="1371600"/>
            <a:ext cx="3200400" cy="365760"/>
          </a:xfrm>
          <a:prstGeom prst="rect">
            <a:avLst/>
          </a:prstGeom>
          <a:noFill/>
        </p:spPr>
        <p:txBody>
          <a:bodyPr wrap="square">
            <a:spAutoFit/>
          </a:bodyPr>
          <a:lstStyle/>
          <a:p>
            <a:pPr algn="l">
              <a:defRPr sz="1800" b="1">
                <a:solidFill>
                  <a:srgbClr val="FBBF24"/>
                </a:solidFill>
                <a:latin typeface="Calibri"/>
              </a:defRPr>
            </a:pPr>
            <a:r>
              <a:t>Layer 2: OWASP ZAP Scan</a:t>
            </a:r>
          </a:p>
        </p:txBody>
      </p:sp>
      <p:sp>
        <p:nvSpPr>
          <p:cNvPr id="8" name="TextBox 7"/>
          <p:cNvSpPr txBox="1"/>
          <p:nvPr/>
        </p:nvSpPr>
        <p:spPr>
          <a:xfrm>
            <a:off x="4572000" y="1828800"/>
            <a:ext cx="3200400" cy="274320"/>
          </a:xfrm>
          <a:prstGeom prst="rect">
            <a:avLst/>
          </a:prstGeom>
          <a:noFill/>
        </p:spPr>
        <p:txBody>
          <a:bodyPr wrap="square">
            <a:spAutoFit/>
          </a:bodyPr>
          <a:lstStyle/>
          <a:p>
            <a:pPr algn="l">
              <a:defRPr sz="1400" b="0">
                <a:solidFill>
                  <a:srgbClr val="71717A"/>
                </a:solidFill>
                <a:latin typeface="Calibri"/>
              </a:defRPr>
            </a:pPr>
            <a:r>
              <a:t>50 apps  |  3 scan modes</a:t>
            </a:r>
          </a:p>
        </p:txBody>
      </p:sp>
      <p:sp>
        <p:nvSpPr>
          <p:cNvPr id="9" name="TextBox 8"/>
          <p:cNvSpPr txBox="1"/>
          <p:nvPr/>
        </p:nvSpPr>
        <p:spPr>
          <a:xfrm>
            <a:off x="4572000" y="2194560"/>
            <a:ext cx="3200400" cy="2286000"/>
          </a:xfrm>
          <a:prstGeom prst="rect">
            <a:avLst/>
          </a:prstGeom>
          <a:noFill/>
        </p:spPr>
        <p:txBody>
          <a:bodyPr wrap="square">
            <a:spAutoFit/>
          </a:bodyPr>
          <a:lstStyle/>
          <a:p>
            <a:pPr>
              <a:spcAft>
                <a:spcPts val="800"/>
              </a:spcAft>
              <a:defRPr sz="1300">
                <a:solidFill>
                  <a:srgbClr val="A1A1AA"/>
                </a:solidFill>
                <a:latin typeface="Calibri"/>
              </a:defRPr>
            </a:pPr>
            <a:r>
              <a:t>Baseline: passive header checks</a:t>
            </a:r>
          </a:p>
          <a:p>
            <a:pPr>
              <a:spcAft>
                <a:spcPts val="800"/>
              </a:spcAft>
              <a:defRPr sz="1300">
                <a:solidFill>
                  <a:srgbClr val="A1A1AA"/>
                </a:solidFill>
                <a:latin typeface="Calibri"/>
              </a:defRPr>
            </a:pPr>
            <a:r>
              <a:t>Full scan: all 56 active rules</a:t>
            </a:r>
          </a:p>
          <a:p>
            <a:pPr>
              <a:spcAft>
                <a:spcPts val="800"/>
              </a:spcAft>
              <a:defRPr sz="1300">
                <a:solidFill>
                  <a:srgbClr val="A1A1AA"/>
                </a:solidFill>
                <a:latin typeface="Calibri"/>
              </a:defRPr>
            </a:pPr>
            <a:r>
              <a:t>API scan: OpenAPI spec imported</a:t>
            </a:r>
          </a:p>
          <a:p>
            <a:pPr>
              <a:spcAft>
                <a:spcPts val="800"/>
              </a:spcAft>
              <a:defRPr sz="1300">
                <a:solidFill>
                  <a:srgbClr val="A1A1AA"/>
                </a:solidFill>
                <a:latin typeface="Calibri"/>
              </a:defRPr>
            </a:pPr>
            <a:r>
              <a:t>Tests from outside the container</a:t>
            </a:r>
          </a:p>
          <a:p>
            <a:pPr>
              <a:spcAft>
                <a:spcPts val="800"/>
              </a:spcAft>
              <a:defRPr sz="1300">
                <a:solidFill>
                  <a:srgbClr val="A1A1AA"/>
                </a:solidFill>
                <a:latin typeface="Calibri"/>
              </a:defRPr>
            </a:pPr>
            <a:r>
              <a:t>Industry standard validation</a:t>
            </a:r>
          </a:p>
        </p:txBody>
      </p:sp>
      <p:sp>
        <p:nvSpPr>
          <p:cNvPr id="10" name="TextBox 9"/>
          <p:cNvSpPr txBox="1"/>
          <p:nvPr/>
        </p:nvSpPr>
        <p:spPr>
          <a:xfrm>
            <a:off x="8229600" y="1371600"/>
            <a:ext cx="3200400" cy="365760"/>
          </a:xfrm>
          <a:prstGeom prst="rect">
            <a:avLst/>
          </a:prstGeom>
          <a:noFill/>
        </p:spPr>
        <p:txBody>
          <a:bodyPr wrap="square">
            <a:spAutoFit/>
          </a:bodyPr>
          <a:lstStyle/>
          <a:p>
            <a:pPr algn="l">
              <a:defRPr sz="1800" b="1">
                <a:solidFill>
                  <a:srgbClr val="60A5FA"/>
                </a:solidFill>
                <a:latin typeface="Calibri"/>
              </a:defRPr>
            </a:pPr>
            <a:r>
              <a:t>Layer 3: Manual Pentest</a:t>
            </a:r>
          </a:p>
        </p:txBody>
      </p:sp>
      <p:sp>
        <p:nvSpPr>
          <p:cNvPr id="11" name="TextBox 10"/>
          <p:cNvSpPr txBox="1"/>
          <p:nvPr/>
        </p:nvSpPr>
        <p:spPr>
          <a:xfrm>
            <a:off x="8229600" y="1828800"/>
            <a:ext cx="3200400" cy="274320"/>
          </a:xfrm>
          <a:prstGeom prst="rect">
            <a:avLst/>
          </a:prstGeom>
          <a:noFill/>
        </p:spPr>
        <p:txBody>
          <a:bodyPr wrap="square">
            <a:spAutoFit/>
          </a:bodyPr>
          <a:lstStyle/>
          <a:p>
            <a:pPr algn="l">
              <a:defRPr sz="1400" b="0">
                <a:solidFill>
                  <a:srgbClr val="71717A"/>
                </a:solidFill>
                <a:latin typeface="Calibri"/>
              </a:defRPr>
            </a:pPr>
            <a:r>
              <a:t>10 apps  |  47 findings</a:t>
            </a:r>
          </a:p>
        </p:txBody>
      </p:sp>
      <p:sp>
        <p:nvSpPr>
          <p:cNvPr id="12" name="TextBox 11"/>
          <p:cNvSpPr txBox="1"/>
          <p:nvPr/>
        </p:nvSpPr>
        <p:spPr>
          <a:xfrm>
            <a:off x="8229600" y="2194560"/>
            <a:ext cx="3200400" cy="2286000"/>
          </a:xfrm>
          <a:prstGeom prst="rect">
            <a:avLst/>
          </a:prstGeom>
          <a:noFill/>
        </p:spPr>
        <p:txBody>
          <a:bodyPr wrap="square">
            <a:spAutoFit/>
          </a:bodyPr>
          <a:lstStyle/>
          <a:p>
            <a:pPr>
              <a:spcAft>
                <a:spcPts val="800"/>
              </a:spcAft>
              <a:defRPr sz="1300">
                <a:solidFill>
                  <a:srgbClr val="A1A1AA"/>
                </a:solidFill>
                <a:latin typeface="Calibri"/>
              </a:defRPr>
            </a:pPr>
            <a:r>
              <a:t>OWASP WSTG v4.2 checklist (107 checks)</a:t>
            </a:r>
          </a:p>
          <a:p>
            <a:pPr>
              <a:spcAft>
                <a:spcPts val="800"/>
              </a:spcAft>
              <a:defRPr sz="1300">
                <a:solidFill>
                  <a:srgbClr val="A1A1AA"/>
                </a:solidFill>
                <a:latin typeface="Calibri"/>
              </a:defRPr>
            </a:pPr>
            <a:r>
              <a:t>Tested auth, session, injection, logic</a:t>
            </a:r>
          </a:p>
          <a:p>
            <a:pPr>
              <a:spcAft>
                <a:spcPts val="800"/>
              </a:spcAft>
              <a:defRPr sz="1300">
                <a:solidFill>
                  <a:srgbClr val="A1A1AA"/>
                </a:solidFill>
                <a:latin typeface="Calibri"/>
              </a:defRPr>
            </a:pPr>
            <a:r>
              <a:t>Found 12 unique CWE types</a:t>
            </a:r>
          </a:p>
          <a:p>
            <a:pPr>
              <a:spcAft>
                <a:spcPts val="800"/>
              </a:spcAft>
              <a:defRPr sz="1300">
                <a:solidFill>
                  <a:srgbClr val="A1A1AA"/>
                </a:solidFill>
                <a:latin typeface="Calibri"/>
              </a:defRPr>
            </a:pPr>
            <a:r>
              <a:t>2 critical, 12 high, 22 medium, 11 low</a:t>
            </a:r>
          </a:p>
          <a:p>
            <a:pPr>
              <a:spcAft>
                <a:spcPts val="800"/>
              </a:spcAft>
              <a:defRPr sz="1300">
                <a:solidFill>
                  <a:srgbClr val="A1A1AA"/>
                </a:solidFill>
                <a:latin typeface="Calibri"/>
              </a:defRPr>
            </a:pPr>
            <a:r>
              <a:t>Ground truth for accuracy measurement</a:t>
            </a:r>
          </a:p>
        </p:txBody>
      </p:sp>
      <p:sp>
        <p:nvSpPr>
          <p:cNvPr id="13" name="TextBox 12"/>
          <p:cNvSpPr txBox="1"/>
          <p:nvPr/>
        </p:nvSpPr>
        <p:spPr>
          <a:xfrm>
            <a:off x="914400" y="5029200"/>
            <a:ext cx="10058400" cy="731520"/>
          </a:xfrm>
          <a:prstGeom prst="rect">
            <a:avLst/>
          </a:prstGeom>
          <a:noFill/>
        </p:spPr>
        <p:txBody>
          <a:bodyPr wrap="square">
            <a:spAutoFit/>
          </a:bodyPr>
          <a:lstStyle/>
          <a:p>
            <a:pPr algn="l">
              <a:defRPr sz="1600" b="0">
                <a:solidFill>
                  <a:srgbClr val="FBBF24"/>
                </a:solidFill>
                <a:latin typeface="Calibri"/>
              </a:defRPr>
            </a:pPr>
            <a:r>
              <a:t>Key Result: Manual found 47 vulns  |  CodeStrike confirmed 11 (100% precision)  |  ZAP found 2 CWE types (14.3% agreement)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Jordan</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Exploitation Results: The Security Funnel</a:t>
            </a:r>
          </a:p>
        </p:txBody>
      </p:sp>
      <p:sp>
        <p:nvSpPr>
          <p:cNvPr id="4" name="Rounded Rectangle 3"/>
          <p:cNvSpPr/>
          <p:nvPr/>
        </p:nvSpPr>
        <p:spPr>
          <a:xfrm>
            <a:off x="914400" y="1371600"/>
            <a:ext cx="10058400" cy="91440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08760"/>
            <a:ext cx="9692640" cy="274320"/>
          </a:xfrm>
          <a:prstGeom prst="rect">
            <a:avLst/>
          </a:prstGeom>
          <a:noFill/>
        </p:spPr>
        <p:txBody>
          <a:bodyPr wrap="square">
            <a:spAutoFit/>
          </a:bodyPr>
          <a:lstStyle/>
          <a:p>
            <a:pPr algn="l">
              <a:defRPr sz="1000" b="0">
                <a:solidFill>
                  <a:srgbClr val="71717A"/>
                </a:solidFill>
                <a:latin typeface="Calibri"/>
              </a:defRPr>
            </a:pPr>
            <a:r>
              <a:t>4,505 APPS GENERATED BY AI</a:t>
            </a:r>
          </a:p>
        </p:txBody>
      </p:sp>
      <p:sp>
        <p:nvSpPr>
          <p:cNvPr id="6" name="TextBox 5"/>
          <p:cNvSpPr txBox="1"/>
          <p:nvPr/>
        </p:nvSpPr>
        <p:spPr>
          <a:xfrm>
            <a:off x="1097280" y="1783080"/>
            <a:ext cx="9692640" cy="457200"/>
          </a:xfrm>
          <a:prstGeom prst="rect">
            <a:avLst/>
          </a:prstGeom>
          <a:noFill/>
        </p:spPr>
        <p:txBody>
          <a:bodyPr wrap="square">
            <a:spAutoFit/>
          </a:bodyPr>
          <a:lstStyle/>
          <a:p>
            <a:pPr algn="l">
              <a:defRPr sz="2800" b="1">
                <a:solidFill>
                  <a:srgbClr val="60A5FA"/>
                </a:solidFill>
                <a:latin typeface="Calibri"/>
              </a:defRPr>
            </a:pPr>
            <a:r>
              <a:t>100%</a:t>
            </a:r>
          </a:p>
        </p:txBody>
      </p:sp>
      <p:sp>
        <p:nvSpPr>
          <p:cNvPr id="7" name="Rounded Rectangle 6"/>
          <p:cNvSpPr/>
          <p:nvPr/>
        </p:nvSpPr>
        <p:spPr>
          <a:xfrm>
            <a:off x="1828800" y="2560320"/>
            <a:ext cx="8229600" cy="91440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2697479"/>
            <a:ext cx="7863840" cy="274320"/>
          </a:xfrm>
          <a:prstGeom prst="rect">
            <a:avLst/>
          </a:prstGeom>
          <a:noFill/>
        </p:spPr>
        <p:txBody>
          <a:bodyPr wrap="square">
            <a:spAutoFit/>
          </a:bodyPr>
          <a:lstStyle/>
          <a:p>
            <a:pPr algn="l">
              <a:defRPr sz="1000" b="0">
                <a:solidFill>
                  <a:srgbClr val="71717A"/>
                </a:solidFill>
                <a:latin typeface="Calibri"/>
              </a:defRPr>
            </a:pPr>
            <a:r>
              <a:t>3,217 CRASHED (71.4%)</a:t>
            </a:r>
          </a:p>
        </p:txBody>
      </p:sp>
      <p:sp>
        <p:nvSpPr>
          <p:cNvPr id="9" name="TextBox 8"/>
          <p:cNvSpPr txBox="1"/>
          <p:nvPr/>
        </p:nvSpPr>
        <p:spPr>
          <a:xfrm>
            <a:off x="2011680" y="2971800"/>
            <a:ext cx="7863840" cy="457200"/>
          </a:xfrm>
          <a:prstGeom prst="rect">
            <a:avLst/>
          </a:prstGeom>
          <a:noFill/>
        </p:spPr>
        <p:txBody>
          <a:bodyPr wrap="square">
            <a:spAutoFit/>
          </a:bodyPr>
          <a:lstStyle/>
          <a:p>
            <a:pPr algn="l">
              <a:defRPr sz="2800" b="1">
                <a:solidFill>
                  <a:srgbClr val="F87171"/>
                </a:solidFill>
                <a:latin typeface="Calibri"/>
              </a:defRPr>
            </a:pPr>
            <a:r>
              <a:t>Code doesn't work</a:t>
            </a:r>
          </a:p>
        </p:txBody>
      </p:sp>
      <p:sp>
        <p:nvSpPr>
          <p:cNvPr id="10" name="TextBox 9"/>
          <p:cNvSpPr txBox="1"/>
          <p:nvPr/>
        </p:nvSpPr>
        <p:spPr>
          <a:xfrm>
            <a:off x="2011680" y="3474720"/>
            <a:ext cx="7863840" cy="274320"/>
          </a:xfrm>
          <a:prstGeom prst="rect">
            <a:avLst/>
          </a:prstGeom>
          <a:noFill/>
        </p:spPr>
        <p:txBody>
          <a:bodyPr wrap="square">
            <a:spAutoFit/>
          </a:bodyPr>
          <a:lstStyle/>
          <a:p>
            <a:pPr algn="l">
              <a:defRPr sz="1000" b="0">
                <a:solidFill>
                  <a:srgbClr val="71717A"/>
                </a:solidFill>
                <a:latin typeface="Calibri"/>
              </a:defRPr>
            </a:pPr>
            <a:r>
              <a:t>syntax errors, missing imports, runtime failures</a:t>
            </a:r>
          </a:p>
        </p:txBody>
      </p:sp>
      <p:sp>
        <p:nvSpPr>
          <p:cNvPr id="11" name="Rounded Rectangle 10"/>
          <p:cNvSpPr/>
          <p:nvPr/>
        </p:nvSpPr>
        <p:spPr>
          <a:xfrm>
            <a:off x="2743200" y="3749039"/>
            <a:ext cx="6400800" cy="91440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3886200"/>
            <a:ext cx="6035040" cy="274320"/>
          </a:xfrm>
          <a:prstGeom prst="rect">
            <a:avLst/>
          </a:prstGeom>
          <a:noFill/>
        </p:spPr>
        <p:txBody>
          <a:bodyPr wrap="square">
            <a:spAutoFit/>
          </a:bodyPr>
          <a:lstStyle/>
          <a:p>
            <a:pPr algn="l">
              <a:defRPr sz="1000" b="0">
                <a:solidFill>
                  <a:srgbClr val="71717A"/>
                </a:solidFill>
                <a:latin typeface="Calibri"/>
              </a:defRPr>
            </a:pPr>
            <a:r>
              <a:t>1,288 FUNCTIONAL (28.6%)</a:t>
            </a:r>
          </a:p>
        </p:txBody>
      </p:sp>
      <p:sp>
        <p:nvSpPr>
          <p:cNvPr id="13" name="TextBox 12"/>
          <p:cNvSpPr txBox="1"/>
          <p:nvPr/>
        </p:nvSpPr>
        <p:spPr>
          <a:xfrm>
            <a:off x="2926080" y="4160520"/>
            <a:ext cx="6035040" cy="457200"/>
          </a:xfrm>
          <a:prstGeom prst="rect">
            <a:avLst/>
          </a:prstGeom>
          <a:noFill/>
        </p:spPr>
        <p:txBody>
          <a:bodyPr wrap="square">
            <a:spAutoFit/>
          </a:bodyPr>
          <a:lstStyle/>
          <a:p>
            <a:pPr algn="l">
              <a:defRPr sz="2800" b="1">
                <a:solidFill>
                  <a:srgbClr val="FBBF24"/>
                </a:solidFill>
                <a:latin typeface="Calibri"/>
              </a:defRPr>
            </a:pPr>
            <a:r>
              <a:t>Code works</a:t>
            </a:r>
          </a:p>
        </p:txBody>
      </p:sp>
      <p:sp>
        <p:nvSpPr>
          <p:cNvPr id="14" name="TextBox 13"/>
          <p:cNvSpPr txBox="1"/>
          <p:nvPr/>
        </p:nvSpPr>
        <p:spPr>
          <a:xfrm>
            <a:off x="2926080" y="4663440"/>
            <a:ext cx="6035040" cy="274320"/>
          </a:xfrm>
          <a:prstGeom prst="rect">
            <a:avLst/>
          </a:prstGeom>
          <a:noFill/>
        </p:spPr>
        <p:txBody>
          <a:bodyPr wrap="square">
            <a:spAutoFit/>
          </a:bodyPr>
          <a:lstStyle/>
          <a:p>
            <a:pPr algn="l">
              <a:defRPr sz="1000" b="0">
                <a:solidFill>
                  <a:srgbClr val="71717A"/>
                </a:solidFill>
                <a:latin typeface="Calibri"/>
              </a:defRPr>
            </a:pPr>
            <a:r>
              <a:t>passes all functional tests</a:t>
            </a:r>
          </a:p>
        </p:txBody>
      </p:sp>
      <p:sp>
        <p:nvSpPr>
          <p:cNvPr id="15" name="Rounded Rectangle 14"/>
          <p:cNvSpPr/>
          <p:nvPr/>
        </p:nvSpPr>
        <p:spPr>
          <a:xfrm>
            <a:off x="3657600" y="4937760"/>
            <a:ext cx="4572000" cy="91440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0" y="5074920"/>
            <a:ext cx="4206240" cy="274320"/>
          </a:xfrm>
          <a:prstGeom prst="rect">
            <a:avLst/>
          </a:prstGeom>
          <a:noFill/>
        </p:spPr>
        <p:txBody>
          <a:bodyPr wrap="square">
            <a:spAutoFit/>
          </a:bodyPr>
          <a:lstStyle/>
          <a:p>
            <a:pPr algn="l">
              <a:defRPr sz="1000" b="0">
                <a:solidFill>
                  <a:srgbClr val="71717A"/>
                </a:solidFill>
                <a:latin typeface="Calibri"/>
              </a:defRPr>
            </a:pPr>
            <a:r>
              <a:t>1,142 VULNERABLE (88.7% of working)</a:t>
            </a:r>
          </a:p>
        </p:txBody>
      </p:sp>
      <p:sp>
        <p:nvSpPr>
          <p:cNvPr id="17" name="TextBox 16"/>
          <p:cNvSpPr txBox="1"/>
          <p:nvPr/>
        </p:nvSpPr>
        <p:spPr>
          <a:xfrm>
            <a:off x="3840480" y="5349240"/>
            <a:ext cx="4206240" cy="457200"/>
          </a:xfrm>
          <a:prstGeom prst="rect">
            <a:avLst/>
          </a:prstGeom>
          <a:noFill/>
        </p:spPr>
        <p:txBody>
          <a:bodyPr wrap="square">
            <a:spAutoFit/>
          </a:bodyPr>
          <a:lstStyle/>
          <a:p>
            <a:pPr algn="l">
              <a:defRPr sz="2800" b="1">
                <a:solidFill>
                  <a:srgbClr val="F87171"/>
                </a:solidFill>
                <a:latin typeface="Calibri"/>
              </a:defRPr>
            </a:pPr>
            <a:r>
              <a:t>Has CWEs</a:t>
            </a:r>
          </a:p>
        </p:txBody>
      </p:sp>
      <p:sp>
        <p:nvSpPr>
          <p:cNvPr id="18" name="Rounded Rectangle 17"/>
          <p:cNvSpPr/>
          <p:nvPr/>
        </p:nvSpPr>
        <p:spPr>
          <a:xfrm>
            <a:off x="4572000" y="5486400"/>
            <a:ext cx="2743200" cy="64008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5623560"/>
            <a:ext cx="2377440" cy="274320"/>
          </a:xfrm>
          <a:prstGeom prst="rect">
            <a:avLst/>
          </a:prstGeom>
          <a:noFill/>
        </p:spPr>
        <p:txBody>
          <a:bodyPr wrap="square">
            <a:spAutoFit/>
          </a:bodyPr>
          <a:lstStyle/>
          <a:p>
            <a:pPr algn="l">
              <a:defRPr sz="1000" b="0">
                <a:solidFill>
                  <a:srgbClr val="71717A"/>
                </a:solidFill>
                <a:latin typeface="Calibri"/>
              </a:defRPr>
            </a:pPr>
            <a:r>
              <a:t>146 SECURE</a:t>
            </a:r>
          </a:p>
        </p:txBody>
      </p:sp>
      <p:sp>
        <p:nvSpPr>
          <p:cNvPr id="20" name="TextBox 19"/>
          <p:cNvSpPr txBox="1"/>
          <p:nvPr/>
        </p:nvSpPr>
        <p:spPr>
          <a:xfrm>
            <a:off x="4754880" y="5897880"/>
            <a:ext cx="2377440" cy="457200"/>
          </a:xfrm>
          <a:prstGeom prst="rect">
            <a:avLst/>
          </a:prstGeom>
          <a:noFill/>
        </p:spPr>
        <p:txBody>
          <a:bodyPr wrap="square">
            <a:spAutoFit/>
          </a:bodyPr>
          <a:lstStyle/>
          <a:p>
            <a:pPr algn="l">
              <a:defRPr sz="2800" b="1">
                <a:solidFill>
                  <a:srgbClr val="34D399"/>
                </a:solidFill>
                <a:latin typeface="Calibri"/>
              </a:defRPr>
            </a:pPr>
            <a:r>
              <a:t>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Jordan</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Exploitation: Attack Vectors Used</a:t>
            </a:r>
          </a:p>
        </p:txBody>
      </p:sp>
      <p:sp>
        <p:nvSpPr>
          <p:cNvPr id="4" name="TextBox 3"/>
          <p:cNvSpPr txBox="1"/>
          <p:nvPr/>
        </p:nvSpPr>
        <p:spPr>
          <a:xfrm>
            <a:off x="914400" y="1188720"/>
            <a:ext cx="5029200" cy="365760"/>
          </a:xfrm>
          <a:prstGeom prst="rect">
            <a:avLst/>
          </a:prstGeom>
          <a:noFill/>
        </p:spPr>
        <p:txBody>
          <a:bodyPr wrap="square">
            <a:spAutoFit/>
          </a:bodyPr>
          <a:lstStyle/>
          <a:p>
            <a:pPr algn="l">
              <a:defRPr sz="1800" b="1">
                <a:solidFill>
                  <a:srgbClr val="F87171"/>
                </a:solidFill>
                <a:latin typeface="Calibri"/>
              </a:defRPr>
            </a:pPr>
            <a:r>
              <a:t>XSS — 25 Vectors</a:t>
            </a:r>
          </a:p>
        </p:txBody>
      </p:sp>
      <p:sp>
        <p:nvSpPr>
          <p:cNvPr id="5" name="TextBox 4"/>
          <p:cNvSpPr txBox="1"/>
          <p:nvPr/>
        </p:nvSpPr>
        <p:spPr>
          <a:xfrm>
            <a:off x="914400" y="1645920"/>
            <a:ext cx="5029200" cy="1371600"/>
          </a:xfrm>
          <a:prstGeom prst="rect">
            <a:avLst/>
          </a:prstGeom>
          <a:noFill/>
        </p:spPr>
        <p:txBody>
          <a:bodyPr wrap="square">
            <a:spAutoFit/>
          </a:bodyPr>
          <a:lstStyle/>
          <a:p>
            <a:pPr>
              <a:spcAft>
                <a:spcPts val="800"/>
              </a:spcAft>
              <a:defRPr sz="1300">
                <a:solidFill>
                  <a:srgbClr val="A1A1AA"/>
                </a:solidFill>
                <a:latin typeface="Calibri"/>
              </a:defRPr>
            </a:pPr>
            <a:r>
              <a:t>&lt;script&gt;alert(1)&lt;/script&gt;  (basic)</a:t>
            </a:r>
          </a:p>
          <a:p>
            <a:pPr>
              <a:spcAft>
                <a:spcPts val="800"/>
              </a:spcAft>
              <a:defRPr sz="1300">
                <a:solidFill>
                  <a:srgbClr val="A1A1AA"/>
                </a:solidFill>
                <a:latin typeface="Calibri"/>
              </a:defRPr>
            </a:pPr>
            <a:r>
              <a:t>&lt;img src=x onerror=alert(1)&gt;  (event handler)</a:t>
            </a:r>
          </a:p>
          <a:p>
            <a:pPr>
              <a:spcAft>
                <a:spcPts val="800"/>
              </a:spcAft>
              <a:defRPr sz="1300">
                <a:solidFill>
                  <a:srgbClr val="A1A1AA"/>
                </a:solidFill>
                <a:latin typeface="Calibri"/>
              </a:defRPr>
            </a:pPr>
            <a:r>
              <a:t>&lt;svg/onload=alert(1)&gt;  (SVG injection)</a:t>
            </a:r>
          </a:p>
          <a:p>
            <a:pPr>
              <a:spcAft>
                <a:spcPts val="800"/>
              </a:spcAft>
              <a:defRPr sz="1300">
                <a:solidFill>
                  <a:srgbClr val="A1A1AA"/>
                </a:solidFill>
                <a:latin typeface="Calibri"/>
              </a:defRPr>
            </a:pPr>
            <a:r>
              <a:t>javascript:alert(1)  (protocol handler)</a:t>
            </a:r>
          </a:p>
          <a:p>
            <a:pPr>
              <a:spcAft>
                <a:spcPts val="800"/>
              </a:spcAft>
              <a:defRPr sz="1300">
                <a:solidFill>
                  <a:srgbClr val="A1A1AA"/>
                </a:solidFill>
                <a:latin typeface="Calibri"/>
              </a:defRPr>
            </a:pPr>
            <a:r>
              <a:t>%3Cscript%3Ealert(1)%3C/script%3E  (URL encoded)</a:t>
            </a:r>
          </a:p>
        </p:txBody>
      </p:sp>
      <p:sp>
        <p:nvSpPr>
          <p:cNvPr id="6" name="TextBox 5"/>
          <p:cNvSpPr txBox="1"/>
          <p:nvPr/>
        </p:nvSpPr>
        <p:spPr>
          <a:xfrm>
            <a:off x="6400800" y="1188720"/>
            <a:ext cx="5029200" cy="365760"/>
          </a:xfrm>
          <a:prstGeom prst="rect">
            <a:avLst/>
          </a:prstGeom>
          <a:noFill/>
        </p:spPr>
        <p:txBody>
          <a:bodyPr wrap="square">
            <a:spAutoFit/>
          </a:bodyPr>
          <a:lstStyle/>
          <a:p>
            <a:pPr algn="l">
              <a:defRPr sz="1800" b="1">
                <a:solidFill>
                  <a:srgbClr val="F87171"/>
                </a:solidFill>
                <a:latin typeface="Calibri"/>
              </a:defRPr>
            </a:pPr>
            <a:r>
              <a:t>SQL Injection — 25 Vectors</a:t>
            </a:r>
          </a:p>
        </p:txBody>
      </p:sp>
      <p:sp>
        <p:nvSpPr>
          <p:cNvPr id="7" name="TextBox 6"/>
          <p:cNvSpPr txBox="1"/>
          <p:nvPr/>
        </p:nvSpPr>
        <p:spPr>
          <a:xfrm>
            <a:off x="6400800" y="1645920"/>
            <a:ext cx="5029200" cy="1371600"/>
          </a:xfrm>
          <a:prstGeom prst="rect">
            <a:avLst/>
          </a:prstGeom>
          <a:noFill/>
        </p:spPr>
        <p:txBody>
          <a:bodyPr wrap="square">
            <a:spAutoFit/>
          </a:bodyPr>
          <a:lstStyle/>
          <a:p>
            <a:pPr>
              <a:spcAft>
                <a:spcPts val="800"/>
              </a:spcAft>
              <a:defRPr sz="1300">
                <a:solidFill>
                  <a:srgbClr val="A1A1AA"/>
                </a:solidFill>
                <a:latin typeface="Calibri"/>
              </a:defRPr>
            </a:pPr>
            <a:r>
              <a:t>' OR '1'='1  (classic bypass)</a:t>
            </a:r>
          </a:p>
          <a:p>
            <a:pPr>
              <a:spcAft>
                <a:spcPts val="800"/>
              </a:spcAft>
              <a:defRPr sz="1300">
                <a:solidFill>
                  <a:srgbClr val="A1A1AA"/>
                </a:solidFill>
                <a:latin typeface="Calibri"/>
              </a:defRPr>
            </a:pPr>
            <a:r>
              <a:t>' UNION SELECT * FROM users--  (data extraction)</a:t>
            </a:r>
          </a:p>
          <a:p>
            <a:pPr>
              <a:spcAft>
                <a:spcPts val="800"/>
              </a:spcAft>
              <a:defRPr sz="1300">
                <a:solidFill>
                  <a:srgbClr val="A1A1AA"/>
                </a:solidFill>
                <a:latin typeface="Calibri"/>
              </a:defRPr>
            </a:pPr>
            <a:r>
              <a:t>'; DROP TABLE users--  (destructive)</a:t>
            </a:r>
          </a:p>
          <a:p>
            <a:pPr>
              <a:spcAft>
                <a:spcPts val="800"/>
              </a:spcAft>
              <a:defRPr sz="1300">
                <a:solidFill>
                  <a:srgbClr val="A1A1AA"/>
                </a:solidFill>
                <a:latin typeface="Calibri"/>
              </a:defRPr>
            </a:pPr>
            <a:r>
              <a:t>' AND SLEEP(5)--  (time-based blind)</a:t>
            </a:r>
          </a:p>
          <a:p>
            <a:pPr>
              <a:spcAft>
                <a:spcPts val="800"/>
              </a:spcAft>
              <a:defRPr sz="1300">
                <a:solidFill>
                  <a:srgbClr val="A1A1AA"/>
                </a:solidFill>
                <a:latin typeface="Calibri"/>
              </a:defRPr>
            </a:pPr>
            <a:r>
              <a:t>admin'/*  (comment injection)</a:t>
            </a:r>
          </a:p>
        </p:txBody>
      </p:sp>
      <p:sp>
        <p:nvSpPr>
          <p:cNvPr id="8" name="TextBox 7"/>
          <p:cNvSpPr txBox="1"/>
          <p:nvPr/>
        </p:nvSpPr>
        <p:spPr>
          <a:xfrm>
            <a:off x="914400" y="3474720"/>
            <a:ext cx="5029200" cy="365760"/>
          </a:xfrm>
          <a:prstGeom prst="rect">
            <a:avLst/>
          </a:prstGeom>
          <a:noFill/>
        </p:spPr>
        <p:txBody>
          <a:bodyPr wrap="square">
            <a:spAutoFit/>
          </a:bodyPr>
          <a:lstStyle/>
          <a:p>
            <a:pPr algn="l">
              <a:defRPr sz="1800" b="1">
                <a:solidFill>
                  <a:srgbClr val="F87171"/>
                </a:solidFill>
                <a:latin typeface="Calibri"/>
              </a:defRPr>
            </a:pPr>
            <a:r>
              <a:t>OS Command Injection</a:t>
            </a:r>
          </a:p>
        </p:txBody>
      </p:sp>
      <p:sp>
        <p:nvSpPr>
          <p:cNvPr id="9" name="TextBox 8"/>
          <p:cNvSpPr txBox="1"/>
          <p:nvPr/>
        </p:nvSpPr>
        <p:spPr>
          <a:xfrm>
            <a:off x="914400" y="3931920"/>
            <a:ext cx="5029200" cy="1097280"/>
          </a:xfrm>
          <a:prstGeom prst="rect">
            <a:avLst/>
          </a:prstGeom>
          <a:noFill/>
        </p:spPr>
        <p:txBody>
          <a:bodyPr wrap="square">
            <a:spAutoFit/>
          </a:bodyPr>
          <a:lstStyle/>
          <a:p>
            <a:pPr>
              <a:spcAft>
                <a:spcPts val="800"/>
              </a:spcAft>
              <a:defRPr sz="1300">
                <a:solidFill>
                  <a:srgbClr val="A1A1AA"/>
                </a:solidFill>
                <a:latin typeface="Calibri"/>
              </a:defRPr>
            </a:pPr>
            <a:r>
              <a:t>; ls /etc/passwd  (basic)</a:t>
            </a:r>
          </a:p>
          <a:p>
            <a:pPr>
              <a:spcAft>
                <a:spcPts val="800"/>
              </a:spcAft>
              <a:defRPr sz="1300">
                <a:solidFill>
                  <a:srgbClr val="A1A1AA"/>
                </a:solidFill>
                <a:latin typeface="Calibri"/>
              </a:defRPr>
            </a:pPr>
            <a:r>
              <a:t>| cat /etc/shadow  (pipe)</a:t>
            </a:r>
          </a:p>
          <a:p>
            <a:pPr>
              <a:spcAft>
                <a:spcPts val="800"/>
              </a:spcAft>
              <a:defRPr sz="1300">
                <a:solidFill>
                  <a:srgbClr val="A1A1AA"/>
                </a:solidFill>
                <a:latin typeface="Calibri"/>
              </a:defRPr>
            </a:pPr>
            <a:r>
              <a:t>`sleep 5`  (time-based blind)</a:t>
            </a:r>
          </a:p>
          <a:p>
            <a:pPr>
              <a:spcAft>
                <a:spcPts val="800"/>
              </a:spcAft>
              <a:defRPr sz="1300">
                <a:solidFill>
                  <a:srgbClr val="A1A1AA"/>
                </a:solidFill>
                <a:latin typeface="Calibri"/>
              </a:defRPr>
            </a:pPr>
            <a:r>
              <a:t>$(whoami)  (subshell)</a:t>
            </a:r>
          </a:p>
        </p:txBody>
      </p:sp>
      <p:sp>
        <p:nvSpPr>
          <p:cNvPr id="10" name="TextBox 9"/>
          <p:cNvSpPr txBox="1"/>
          <p:nvPr/>
        </p:nvSpPr>
        <p:spPr>
          <a:xfrm>
            <a:off x="6400800" y="3474720"/>
            <a:ext cx="5029200" cy="365760"/>
          </a:xfrm>
          <a:prstGeom prst="rect">
            <a:avLst/>
          </a:prstGeom>
          <a:noFill/>
        </p:spPr>
        <p:txBody>
          <a:bodyPr wrap="square">
            <a:spAutoFit/>
          </a:bodyPr>
          <a:lstStyle/>
          <a:p>
            <a:pPr algn="l">
              <a:defRPr sz="1800" b="1">
                <a:solidFill>
                  <a:srgbClr val="F87171"/>
                </a:solidFill>
                <a:latin typeface="Calibri"/>
              </a:defRPr>
            </a:pPr>
            <a:r>
              <a:t>Other Attacks</a:t>
            </a:r>
          </a:p>
        </p:txBody>
      </p:sp>
      <p:sp>
        <p:nvSpPr>
          <p:cNvPr id="11" name="TextBox 10"/>
          <p:cNvSpPr txBox="1"/>
          <p:nvPr/>
        </p:nvSpPr>
        <p:spPr>
          <a:xfrm>
            <a:off x="6400800" y="3931920"/>
            <a:ext cx="5029200" cy="1371600"/>
          </a:xfrm>
          <a:prstGeom prst="rect">
            <a:avLst/>
          </a:prstGeom>
          <a:noFill/>
        </p:spPr>
        <p:txBody>
          <a:bodyPr wrap="square">
            <a:spAutoFit/>
          </a:bodyPr>
          <a:lstStyle/>
          <a:p>
            <a:pPr>
              <a:spcAft>
                <a:spcPts val="800"/>
              </a:spcAft>
              <a:defRPr sz="1300">
                <a:solidFill>
                  <a:srgbClr val="A1A1AA"/>
                </a:solidFill>
                <a:latin typeface="Calibri"/>
              </a:defRPr>
            </a:pPr>
            <a:r>
              <a:t>SSRF: http://169.254.169.254/metadata (cloud)</a:t>
            </a:r>
          </a:p>
          <a:p>
            <a:pPr>
              <a:spcAft>
                <a:spcPts val="800"/>
              </a:spcAft>
              <a:defRPr sz="1300">
                <a:solidFill>
                  <a:srgbClr val="A1A1AA"/>
                </a:solidFill>
                <a:latin typeface="Calibri"/>
              </a:defRPr>
            </a:pPr>
            <a:r>
              <a:t>Path traversal: ../../etc/passwd (22+ variants)</a:t>
            </a:r>
          </a:p>
          <a:p>
            <a:pPr>
              <a:spcAft>
                <a:spcPts val="800"/>
              </a:spcAft>
              <a:defRPr sz="1300">
                <a:solidFill>
                  <a:srgbClr val="A1A1AA"/>
                </a:solidFill>
                <a:latin typeface="Calibri"/>
              </a:defRPr>
            </a:pPr>
            <a:r>
              <a:t>CSRF: missing token validation</a:t>
            </a:r>
          </a:p>
          <a:p>
            <a:pPr>
              <a:spcAft>
                <a:spcPts val="800"/>
              </a:spcAft>
              <a:defRPr sz="1300">
                <a:solidFill>
                  <a:srgbClr val="A1A1AA"/>
                </a:solidFill>
                <a:latin typeface="Calibri"/>
              </a:defRPr>
            </a:pPr>
            <a:r>
              <a:t>Brute force: 15 rapid login attempts</a:t>
            </a:r>
          </a:p>
          <a:p>
            <a:pPr>
              <a:spcAft>
                <a:spcPts val="800"/>
              </a:spcAft>
              <a:defRPr sz="1300">
                <a:solidFill>
                  <a:srgbClr val="A1A1AA"/>
                </a:solidFill>
                <a:latin typeface="Calibri"/>
              </a:defRPr>
            </a:pPr>
            <a:r>
              <a:t>IDOR: swap user A's token for user B's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Jordan</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Exploitation Results: What We Found</a:t>
            </a:r>
          </a:p>
        </p:txBody>
      </p:sp>
      <p:sp>
        <p:nvSpPr>
          <p:cNvPr id="4" name="TextBox 3"/>
          <p:cNvSpPr txBox="1"/>
          <p:nvPr/>
        </p:nvSpPr>
        <p:spPr>
          <a:xfrm>
            <a:off x="914400" y="1188720"/>
            <a:ext cx="1828800" cy="274320"/>
          </a:xfrm>
          <a:prstGeom prst="rect">
            <a:avLst/>
          </a:prstGeom>
          <a:noFill/>
        </p:spPr>
        <p:txBody>
          <a:bodyPr wrap="square">
            <a:spAutoFit/>
          </a:bodyPr>
          <a:lstStyle/>
          <a:p>
            <a:pPr algn="l">
              <a:defRPr sz="1200" b="1">
                <a:solidFill>
                  <a:srgbClr val="71717A"/>
                </a:solidFill>
                <a:latin typeface="Calibri"/>
              </a:defRPr>
            </a:pPr>
            <a:r>
              <a:t>CWE</a:t>
            </a:r>
          </a:p>
        </p:txBody>
      </p:sp>
      <p:sp>
        <p:nvSpPr>
          <p:cNvPr id="5" name="TextBox 4"/>
          <p:cNvSpPr txBox="1"/>
          <p:nvPr/>
        </p:nvSpPr>
        <p:spPr>
          <a:xfrm>
            <a:off x="2743200" y="1188720"/>
            <a:ext cx="2743200" cy="274320"/>
          </a:xfrm>
          <a:prstGeom prst="rect">
            <a:avLst/>
          </a:prstGeom>
          <a:noFill/>
        </p:spPr>
        <p:txBody>
          <a:bodyPr wrap="square">
            <a:spAutoFit/>
          </a:bodyPr>
          <a:lstStyle/>
          <a:p>
            <a:pPr algn="l">
              <a:defRPr sz="1200" b="1">
                <a:solidFill>
                  <a:srgbClr val="71717A"/>
                </a:solidFill>
                <a:latin typeface="Calibri"/>
              </a:defRPr>
            </a:pPr>
            <a:r>
              <a:t>Vulnerability</a:t>
            </a:r>
          </a:p>
        </p:txBody>
      </p:sp>
      <p:sp>
        <p:nvSpPr>
          <p:cNvPr id="6" name="TextBox 5"/>
          <p:cNvSpPr txBox="1"/>
          <p:nvPr/>
        </p:nvSpPr>
        <p:spPr>
          <a:xfrm>
            <a:off x="5943600" y="1188720"/>
            <a:ext cx="1371600" cy="274320"/>
          </a:xfrm>
          <a:prstGeom prst="rect">
            <a:avLst/>
          </a:prstGeom>
          <a:noFill/>
        </p:spPr>
        <p:txBody>
          <a:bodyPr wrap="square">
            <a:spAutoFit/>
          </a:bodyPr>
          <a:lstStyle/>
          <a:p>
            <a:pPr algn="l">
              <a:defRPr sz="1200" b="1">
                <a:solidFill>
                  <a:srgbClr val="71717A"/>
                </a:solidFill>
                <a:latin typeface="Calibri"/>
              </a:defRPr>
            </a:pPr>
            <a:r>
              <a:t>Count</a:t>
            </a:r>
          </a:p>
        </p:txBody>
      </p:sp>
      <p:sp>
        <p:nvSpPr>
          <p:cNvPr id="7" name="TextBox 6"/>
          <p:cNvSpPr txBox="1"/>
          <p:nvPr/>
        </p:nvSpPr>
        <p:spPr>
          <a:xfrm>
            <a:off x="7315200" y="1188720"/>
            <a:ext cx="1371600" cy="274320"/>
          </a:xfrm>
          <a:prstGeom prst="rect">
            <a:avLst/>
          </a:prstGeom>
          <a:noFill/>
        </p:spPr>
        <p:txBody>
          <a:bodyPr wrap="square">
            <a:spAutoFit/>
          </a:bodyPr>
          <a:lstStyle/>
          <a:p>
            <a:pPr algn="l">
              <a:defRPr sz="1200" b="1">
                <a:solidFill>
                  <a:srgbClr val="71717A"/>
                </a:solidFill>
                <a:latin typeface="Calibri"/>
              </a:defRPr>
            </a:pPr>
            <a:r>
              <a:t>% of All</a:t>
            </a:r>
          </a:p>
        </p:txBody>
      </p:sp>
      <p:sp>
        <p:nvSpPr>
          <p:cNvPr id="8" name="TextBox 7"/>
          <p:cNvSpPr txBox="1"/>
          <p:nvPr/>
        </p:nvSpPr>
        <p:spPr>
          <a:xfrm>
            <a:off x="914400" y="1645920"/>
            <a:ext cx="1828800" cy="365760"/>
          </a:xfrm>
          <a:prstGeom prst="rect">
            <a:avLst/>
          </a:prstGeom>
          <a:noFill/>
        </p:spPr>
        <p:txBody>
          <a:bodyPr wrap="square">
            <a:spAutoFit/>
          </a:bodyPr>
          <a:lstStyle/>
          <a:p>
            <a:pPr algn="l">
              <a:defRPr sz="1500" b="1">
                <a:solidFill>
                  <a:srgbClr val="F87171"/>
                </a:solidFill>
                <a:latin typeface="Calibri"/>
              </a:defRPr>
            </a:pPr>
            <a:r>
              <a:t>CWE-693</a:t>
            </a:r>
          </a:p>
        </p:txBody>
      </p:sp>
      <p:sp>
        <p:nvSpPr>
          <p:cNvPr id="9" name="TextBox 8"/>
          <p:cNvSpPr txBox="1"/>
          <p:nvPr/>
        </p:nvSpPr>
        <p:spPr>
          <a:xfrm>
            <a:off x="2743200" y="1645920"/>
            <a:ext cx="2743200" cy="365760"/>
          </a:xfrm>
          <a:prstGeom prst="rect">
            <a:avLst/>
          </a:prstGeom>
          <a:noFill/>
        </p:spPr>
        <p:txBody>
          <a:bodyPr wrap="square">
            <a:spAutoFit/>
          </a:bodyPr>
          <a:lstStyle/>
          <a:p>
            <a:pPr algn="l">
              <a:defRPr sz="1500" b="0">
                <a:solidFill>
                  <a:srgbClr val="A1A1AA"/>
                </a:solidFill>
                <a:latin typeface="Calibri"/>
              </a:defRPr>
            </a:pPr>
            <a:r>
              <a:t>Missing Headers</a:t>
            </a:r>
          </a:p>
        </p:txBody>
      </p:sp>
      <p:sp>
        <p:nvSpPr>
          <p:cNvPr id="10" name="TextBox 9"/>
          <p:cNvSpPr txBox="1"/>
          <p:nvPr/>
        </p:nvSpPr>
        <p:spPr>
          <a:xfrm>
            <a:off x="5943600" y="1645920"/>
            <a:ext cx="1371600" cy="365760"/>
          </a:xfrm>
          <a:prstGeom prst="rect">
            <a:avLst/>
          </a:prstGeom>
          <a:noFill/>
        </p:spPr>
        <p:txBody>
          <a:bodyPr wrap="square">
            <a:spAutoFit/>
          </a:bodyPr>
          <a:lstStyle/>
          <a:p>
            <a:pPr algn="l">
              <a:defRPr sz="1500" b="1">
                <a:solidFill>
                  <a:srgbClr val="F4F4F5"/>
                </a:solidFill>
                <a:latin typeface="Calibri"/>
              </a:defRPr>
            </a:pPr>
            <a:r>
              <a:t>1,427</a:t>
            </a:r>
          </a:p>
        </p:txBody>
      </p:sp>
      <p:sp>
        <p:nvSpPr>
          <p:cNvPr id="11" name="TextBox 10"/>
          <p:cNvSpPr txBox="1"/>
          <p:nvPr/>
        </p:nvSpPr>
        <p:spPr>
          <a:xfrm>
            <a:off x="7315200" y="1645920"/>
            <a:ext cx="1371600" cy="365760"/>
          </a:xfrm>
          <a:prstGeom prst="rect">
            <a:avLst/>
          </a:prstGeom>
          <a:noFill/>
        </p:spPr>
        <p:txBody>
          <a:bodyPr wrap="square">
            <a:spAutoFit/>
          </a:bodyPr>
          <a:lstStyle/>
          <a:p>
            <a:pPr algn="l">
              <a:defRPr sz="1500" b="0">
                <a:solidFill>
                  <a:srgbClr val="71717A"/>
                </a:solidFill>
                <a:latin typeface="Calibri"/>
              </a:defRPr>
            </a:pPr>
            <a:r>
              <a:t>62.2%</a:t>
            </a:r>
          </a:p>
        </p:txBody>
      </p:sp>
      <p:sp>
        <p:nvSpPr>
          <p:cNvPr id="12" name="TextBox 11"/>
          <p:cNvSpPr txBox="1"/>
          <p:nvPr/>
        </p:nvSpPr>
        <p:spPr>
          <a:xfrm>
            <a:off x="914400" y="2103120"/>
            <a:ext cx="1828800" cy="365760"/>
          </a:xfrm>
          <a:prstGeom prst="rect">
            <a:avLst/>
          </a:prstGeom>
          <a:noFill/>
        </p:spPr>
        <p:txBody>
          <a:bodyPr wrap="square">
            <a:spAutoFit/>
          </a:bodyPr>
          <a:lstStyle/>
          <a:p>
            <a:pPr algn="l">
              <a:defRPr sz="1500" b="1">
                <a:solidFill>
                  <a:srgbClr val="F87171"/>
                </a:solidFill>
                <a:latin typeface="Calibri"/>
              </a:defRPr>
            </a:pPr>
            <a:r>
              <a:t>CWE-352</a:t>
            </a:r>
          </a:p>
        </p:txBody>
      </p:sp>
      <p:sp>
        <p:nvSpPr>
          <p:cNvPr id="13" name="TextBox 12"/>
          <p:cNvSpPr txBox="1"/>
          <p:nvPr/>
        </p:nvSpPr>
        <p:spPr>
          <a:xfrm>
            <a:off x="2743200" y="2103120"/>
            <a:ext cx="2743200" cy="365760"/>
          </a:xfrm>
          <a:prstGeom prst="rect">
            <a:avLst/>
          </a:prstGeom>
          <a:noFill/>
        </p:spPr>
        <p:txBody>
          <a:bodyPr wrap="square">
            <a:spAutoFit/>
          </a:bodyPr>
          <a:lstStyle/>
          <a:p>
            <a:pPr algn="l">
              <a:defRPr sz="1500" b="0">
                <a:solidFill>
                  <a:srgbClr val="A1A1AA"/>
                </a:solidFill>
                <a:latin typeface="Calibri"/>
              </a:defRPr>
            </a:pPr>
            <a:r>
              <a:t>CSRF Missing</a:t>
            </a:r>
          </a:p>
        </p:txBody>
      </p:sp>
      <p:sp>
        <p:nvSpPr>
          <p:cNvPr id="14" name="TextBox 13"/>
          <p:cNvSpPr txBox="1"/>
          <p:nvPr/>
        </p:nvSpPr>
        <p:spPr>
          <a:xfrm>
            <a:off x="5943600" y="2103120"/>
            <a:ext cx="1371600" cy="365760"/>
          </a:xfrm>
          <a:prstGeom prst="rect">
            <a:avLst/>
          </a:prstGeom>
          <a:noFill/>
        </p:spPr>
        <p:txBody>
          <a:bodyPr wrap="square">
            <a:spAutoFit/>
          </a:bodyPr>
          <a:lstStyle/>
          <a:p>
            <a:pPr algn="l">
              <a:defRPr sz="1500" b="1">
                <a:solidFill>
                  <a:srgbClr val="F4F4F5"/>
                </a:solidFill>
                <a:latin typeface="Calibri"/>
              </a:defRPr>
            </a:pPr>
            <a:r>
              <a:t>271</a:t>
            </a:r>
          </a:p>
        </p:txBody>
      </p:sp>
      <p:sp>
        <p:nvSpPr>
          <p:cNvPr id="15" name="TextBox 14"/>
          <p:cNvSpPr txBox="1"/>
          <p:nvPr/>
        </p:nvSpPr>
        <p:spPr>
          <a:xfrm>
            <a:off x="7315200" y="2103120"/>
            <a:ext cx="1371600" cy="365760"/>
          </a:xfrm>
          <a:prstGeom prst="rect">
            <a:avLst/>
          </a:prstGeom>
          <a:noFill/>
        </p:spPr>
        <p:txBody>
          <a:bodyPr wrap="square">
            <a:spAutoFit/>
          </a:bodyPr>
          <a:lstStyle/>
          <a:p>
            <a:pPr algn="l">
              <a:defRPr sz="1500" b="0">
                <a:solidFill>
                  <a:srgbClr val="71717A"/>
                </a:solidFill>
                <a:latin typeface="Calibri"/>
              </a:defRPr>
            </a:pPr>
            <a:r>
              <a:t>11.8%</a:t>
            </a:r>
          </a:p>
        </p:txBody>
      </p:sp>
      <p:sp>
        <p:nvSpPr>
          <p:cNvPr id="16" name="TextBox 15"/>
          <p:cNvSpPr txBox="1"/>
          <p:nvPr/>
        </p:nvSpPr>
        <p:spPr>
          <a:xfrm>
            <a:off x="914400" y="2560320"/>
            <a:ext cx="1828800" cy="365760"/>
          </a:xfrm>
          <a:prstGeom prst="rect">
            <a:avLst/>
          </a:prstGeom>
          <a:noFill/>
        </p:spPr>
        <p:txBody>
          <a:bodyPr wrap="square">
            <a:spAutoFit/>
          </a:bodyPr>
          <a:lstStyle/>
          <a:p>
            <a:pPr algn="l">
              <a:defRPr sz="1500" b="1">
                <a:solidFill>
                  <a:srgbClr val="F87171"/>
                </a:solidFill>
                <a:latin typeface="Calibri"/>
              </a:defRPr>
            </a:pPr>
            <a:r>
              <a:t>CWE-307</a:t>
            </a:r>
          </a:p>
        </p:txBody>
      </p:sp>
      <p:sp>
        <p:nvSpPr>
          <p:cNvPr id="17" name="TextBox 16"/>
          <p:cNvSpPr txBox="1"/>
          <p:nvPr/>
        </p:nvSpPr>
        <p:spPr>
          <a:xfrm>
            <a:off x="2743200" y="2560320"/>
            <a:ext cx="2743200" cy="365760"/>
          </a:xfrm>
          <a:prstGeom prst="rect">
            <a:avLst/>
          </a:prstGeom>
          <a:noFill/>
        </p:spPr>
        <p:txBody>
          <a:bodyPr wrap="square">
            <a:spAutoFit/>
          </a:bodyPr>
          <a:lstStyle/>
          <a:p>
            <a:pPr algn="l">
              <a:defRPr sz="1500" b="0">
                <a:solidFill>
                  <a:srgbClr val="A1A1AA"/>
                </a:solidFill>
                <a:latin typeface="Calibri"/>
              </a:defRPr>
            </a:pPr>
            <a:r>
              <a:t>No Rate Limiting</a:t>
            </a:r>
          </a:p>
        </p:txBody>
      </p:sp>
      <p:sp>
        <p:nvSpPr>
          <p:cNvPr id="18" name="TextBox 17"/>
          <p:cNvSpPr txBox="1"/>
          <p:nvPr/>
        </p:nvSpPr>
        <p:spPr>
          <a:xfrm>
            <a:off x="5943600" y="2560320"/>
            <a:ext cx="1371600" cy="365760"/>
          </a:xfrm>
          <a:prstGeom prst="rect">
            <a:avLst/>
          </a:prstGeom>
          <a:noFill/>
        </p:spPr>
        <p:txBody>
          <a:bodyPr wrap="square">
            <a:spAutoFit/>
          </a:bodyPr>
          <a:lstStyle/>
          <a:p>
            <a:pPr algn="l">
              <a:defRPr sz="1500" b="1">
                <a:solidFill>
                  <a:srgbClr val="F4F4F5"/>
                </a:solidFill>
                <a:latin typeface="Calibri"/>
              </a:defRPr>
            </a:pPr>
            <a:r>
              <a:t>144</a:t>
            </a:r>
          </a:p>
        </p:txBody>
      </p:sp>
      <p:sp>
        <p:nvSpPr>
          <p:cNvPr id="19" name="TextBox 18"/>
          <p:cNvSpPr txBox="1"/>
          <p:nvPr/>
        </p:nvSpPr>
        <p:spPr>
          <a:xfrm>
            <a:off x="7315200" y="2560320"/>
            <a:ext cx="1371600" cy="365760"/>
          </a:xfrm>
          <a:prstGeom prst="rect">
            <a:avLst/>
          </a:prstGeom>
          <a:noFill/>
        </p:spPr>
        <p:txBody>
          <a:bodyPr wrap="square">
            <a:spAutoFit/>
          </a:bodyPr>
          <a:lstStyle/>
          <a:p>
            <a:pPr algn="l">
              <a:defRPr sz="1500" b="0">
                <a:solidFill>
                  <a:srgbClr val="71717A"/>
                </a:solidFill>
                <a:latin typeface="Calibri"/>
              </a:defRPr>
            </a:pPr>
            <a:r>
              <a:t>6.3%</a:t>
            </a:r>
          </a:p>
        </p:txBody>
      </p:sp>
      <p:sp>
        <p:nvSpPr>
          <p:cNvPr id="20" name="TextBox 19"/>
          <p:cNvSpPr txBox="1"/>
          <p:nvPr/>
        </p:nvSpPr>
        <p:spPr>
          <a:xfrm>
            <a:off x="914400" y="3017520"/>
            <a:ext cx="1828800" cy="365760"/>
          </a:xfrm>
          <a:prstGeom prst="rect">
            <a:avLst/>
          </a:prstGeom>
          <a:noFill/>
        </p:spPr>
        <p:txBody>
          <a:bodyPr wrap="square">
            <a:spAutoFit/>
          </a:bodyPr>
          <a:lstStyle/>
          <a:p>
            <a:pPr algn="l">
              <a:defRPr sz="1500" b="1">
                <a:solidFill>
                  <a:srgbClr val="F87171"/>
                </a:solidFill>
                <a:latin typeface="Calibri"/>
              </a:defRPr>
            </a:pPr>
            <a:r>
              <a:t>CWE-79</a:t>
            </a:r>
          </a:p>
        </p:txBody>
      </p:sp>
      <p:sp>
        <p:nvSpPr>
          <p:cNvPr id="21" name="TextBox 20"/>
          <p:cNvSpPr txBox="1"/>
          <p:nvPr/>
        </p:nvSpPr>
        <p:spPr>
          <a:xfrm>
            <a:off x="2743200" y="3017520"/>
            <a:ext cx="2743200" cy="365760"/>
          </a:xfrm>
          <a:prstGeom prst="rect">
            <a:avLst/>
          </a:prstGeom>
          <a:noFill/>
        </p:spPr>
        <p:txBody>
          <a:bodyPr wrap="square">
            <a:spAutoFit/>
          </a:bodyPr>
          <a:lstStyle/>
          <a:p>
            <a:pPr algn="l">
              <a:defRPr sz="1500" b="0">
                <a:solidFill>
                  <a:srgbClr val="A1A1AA"/>
                </a:solidFill>
                <a:latin typeface="Calibri"/>
              </a:defRPr>
            </a:pPr>
            <a:r>
              <a:t>XSS</a:t>
            </a:r>
          </a:p>
        </p:txBody>
      </p:sp>
      <p:sp>
        <p:nvSpPr>
          <p:cNvPr id="22" name="TextBox 21"/>
          <p:cNvSpPr txBox="1"/>
          <p:nvPr/>
        </p:nvSpPr>
        <p:spPr>
          <a:xfrm>
            <a:off x="5943600" y="3017520"/>
            <a:ext cx="1371600" cy="365760"/>
          </a:xfrm>
          <a:prstGeom prst="rect">
            <a:avLst/>
          </a:prstGeom>
          <a:noFill/>
        </p:spPr>
        <p:txBody>
          <a:bodyPr wrap="square">
            <a:spAutoFit/>
          </a:bodyPr>
          <a:lstStyle/>
          <a:p>
            <a:pPr algn="l">
              <a:defRPr sz="1500" b="1">
                <a:solidFill>
                  <a:srgbClr val="F4F4F5"/>
                </a:solidFill>
                <a:latin typeface="Calibri"/>
              </a:defRPr>
            </a:pPr>
            <a:r>
              <a:t>116</a:t>
            </a:r>
          </a:p>
        </p:txBody>
      </p:sp>
      <p:sp>
        <p:nvSpPr>
          <p:cNvPr id="23" name="TextBox 22"/>
          <p:cNvSpPr txBox="1"/>
          <p:nvPr/>
        </p:nvSpPr>
        <p:spPr>
          <a:xfrm>
            <a:off x="7315200" y="3017520"/>
            <a:ext cx="1371600" cy="365760"/>
          </a:xfrm>
          <a:prstGeom prst="rect">
            <a:avLst/>
          </a:prstGeom>
          <a:noFill/>
        </p:spPr>
        <p:txBody>
          <a:bodyPr wrap="square">
            <a:spAutoFit/>
          </a:bodyPr>
          <a:lstStyle/>
          <a:p>
            <a:pPr algn="l">
              <a:defRPr sz="1500" b="0">
                <a:solidFill>
                  <a:srgbClr val="71717A"/>
                </a:solidFill>
                <a:latin typeface="Calibri"/>
              </a:defRPr>
            </a:pPr>
            <a:r>
              <a:t>5.1%</a:t>
            </a:r>
          </a:p>
        </p:txBody>
      </p:sp>
      <p:sp>
        <p:nvSpPr>
          <p:cNvPr id="24" name="TextBox 23"/>
          <p:cNvSpPr txBox="1"/>
          <p:nvPr/>
        </p:nvSpPr>
        <p:spPr>
          <a:xfrm>
            <a:off x="914400" y="3474720"/>
            <a:ext cx="1828800" cy="365760"/>
          </a:xfrm>
          <a:prstGeom prst="rect">
            <a:avLst/>
          </a:prstGeom>
          <a:noFill/>
        </p:spPr>
        <p:txBody>
          <a:bodyPr wrap="square">
            <a:spAutoFit/>
          </a:bodyPr>
          <a:lstStyle/>
          <a:p>
            <a:pPr algn="l">
              <a:defRPr sz="1500" b="1">
                <a:solidFill>
                  <a:srgbClr val="F87171"/>
                </a:solidFill>
                <a:latin typeface="Calibri"/>
              </a:defRPr>
            </a:pPr>
            <a:r>
              <a:t>CWE-400</a:t>
            </a:r>
          </a:p>
        </p:txBody>
      </p:sp>
      <p:sp>
        <p:nvSpPr>
          <p:cNvPr id="25" name="TextBox 24"/>
          <p:cNvSpPr txBox="1"/>
          <p:nvPr/>
        </p:nvSpPr>
        <p:spPr>
          <a:xfrm>
            <a:off x="2743200" y="3474720"/>
            <a:ext cx="2743200" cy="365760"/>
          </a:xfrm>
          <a:prstGeom prst="rect">
            <a:avLst/>
          </a:prstGeom>
          <a:noFill/>
        </p:spPr>
        <p:txBody>
          <a:bodyPr wrap="square">
            <a:spAutoFit/>
          </a:bodyPr>
          <a:lstStyle/>
          <a:p>
            <a:pPr algn="l">
              <a:defRPr sz="1500" b="0">
                <a:solidFill>
                  <a:srgbClr val="A1A1AA"/>
                </a:solidFill>
                <a:latin typeface="Calibri"/>
              </a:defRPr>
            </a:pPr>
            <a:r>
              <a:t>Resource Exhaustion</a:t>
            </a:r>
          </a:p>
        </p:txBody>
      </p:sp>
      <p:sp>
        <p:nvSpPr>
          <p:cNvPr id="26" name="TextBox 25"/>
          <p:cNvSpPr txBox="1"/>
          <p:nvPr/>
        </p:nvSpPr>
        <p:spPr>
          <a:xfrm>
            <a:off x="5943600" y="3474720"/>
            <a:ext cx="1371600" cy="365760"/>
          </a:xfrm>
          <a:prstGeom prst="rect">
            <a:avLst/>
          </a:prstGeom>
          <a:noFill/>
        </p:spPr>
        <p:txBody>
          <a:bodyPr wrap="square">
            <a:spAutoFit/>
          </a:bodyPr>
          <a:lstStyle/>
          <a:p>
            <a:pPr algn="l">
              <a:defRPr sz="1500" b="1">
                <a:solidFill>
                  <a:srgbClr val="F4F4F5"/>
                </a:solidFill>
                <a:latin typeface="Calibri"/>
              </a:defRPr>
            </a:pPr>
            <a:r>
              <a:t>115</a:t>
            </a:r>
          </a:p>
        </p:txBody>
      </p:sp>
      <p:sp>
        <p:nvSpPr>
          <p:cNvPr id="27" name="TextBox 26"/>
          <p:cNvSpPr txBox="1"/>
          <p:nvPr/>
        </p:nvSpPr>
        <p:spPr>
          <a:xfrm>
            <a:off x="7315200" y="3474720"/>
            <a:ext cx="1371600" cy="365760"/>
          </a:xfrm>
          <a:prstGeom prst="rect">
            <a:avLst/>
          </a:prstGeom>
          <a:noFill/>
        </p:spPr>
        <p:txBody>
          <a:bodyPr wrap="square">
            <a:spAutoFit/>
          </a:bodyPr>
          <a:lstStyle/>
          <a:p>
            <a:pPr algn="l">
              <a:defRPr sz="1500" b="0">
                <a:solidFill>
                  <a:srgbClr val="71717A"/>
                </a:solidFill>
                <a:latin typeface="Calibri"/>
              </a:defRPr>
            </a:pPr>
            <a:r>
              <a:t>5.0%</a:t>
            </a:r>
          </a:p>
        </p:txBody>
      </p:sp>
      <p:sp>
        <p:nvSpPr>
          <p:cNvPr id="28" name="TextBox 27"/>
          <p:cNvSpPr txBox="1"/>
          <p:nvPr/>
        </p:nvSpPr>
        <p:spPr>
          <a:xfrm>
            <a:off x="914400" y="3931920"/>
            <a:ext cx="1828800" cy="365760"/>
          </a:xfrm>
          <a:prstGeom prst="rect">
            <a:avLst/>
          </a:prstGeom>
          <a:noFill/>
        </p:spPr>
        <p:txBody>
          <a:bodyPr wrap="square">
            <a:spAutoFit/>
          </a:bodyPr>
          <a:lstStyle/>
          <a:p>
            <a:pPr algn="l">
              <a:defRPr sz="1500" b="1">
                <a:solidFill>
                  <a:srgbClr val="F87171"/>
                </a:solidFill>
                <a:latin typeface="Calibri"/>
              </a:defRPr>
            </a:pPr>
            <a:r>
              <a:t>CWE-522</a:t>
            </a:r>
          </a:p>
        </p:txBody>
      </p:sp>
      <p:sp>
        <p:nvSpPr>
          <p:cNvPr id="29" name="TextBox 28"/>
          <p:cNvSpPr txBox="1"/>
          <p:nvPr/>
        </p:nvSpPr>
        <p:spPr>
          <a:xfrm>
            <a:off x="2743200" y="3931920"/>
            <a:ext cx="2743200" cy="365760"/>
          </a:xfrm>
          <a:prstGeom prst="rect">
            <a:avLst/>
          </a:prstGeom>
          <a:noFill/>
        </p:spPr>
        <p:txBody>
          <a:bodyPr wrap="square">
            <a:spAutoFit/>
          </a:bodyPr>
          <a:lstStyle/>
          <a:p>
            <a:pPr algn="l">
              <a:defRPr sz="1500" b="0">
                <a:solidFill>
                  <a:srgbClr val="A1A1AA"/>
                </a:solidFill>
                <a:latin typeface="Calibri"/>
              </a:defRPr>
            </a:pPr>
            <a:r>
              <a:t>Weak Credentials</a:t>
            </a:r>
          </a:p>
        </p:txBody>
      </p:sp>
      <p:sp>
        <p:nvSpPr>
          <p:cNvPr id="30" name="TextBox 29"/>
          <p:cNvSpPr txBox="1"/>
          <p:nvPr/>
        </p:nvSpPr>
        <p:spPr>
          <a:xfrm>
            <a:off x="5943600" y="3931920"/>
            <a:ext cx="1371600" cy="365760"/>
          </a:xfrm>
          <a:prstGeom prst="rect">
            <a:avLst/>
          </a:prstGeom>
          <a:noFill/>
        </p:spPr>
        <p:txBody>
          <a:bodyPr wrap="square">
            <a:spAutoFit/>
          </a:bodyPr>
          <a:lstStyle/>
          <a:p>
            <a:pPr algn="l">
              <a:defRPr sz="1500" b="1">
                <a:solidFill>
                  <a:srgbClr val="F4F4F5"/>
                </a:solidFill>
                <a:latin typeface="Calibri"/>
              </a:defRPr>
            </a:pPr>
            <a:r>
              <a:t>62</a:t>
            </a:r>
          </a:p>
        </p:txBody>
      </p:sp>
      <p:sp>
        <p:nvSpPr>
          <p:cNvPr id="31" name="TextBox 30"/>
          <p:cNvSpPr txBox="1"/>
          <p:nvPr/>
        </p:nvSpPr>
        <p:spPr>
          <a:xfrm>
            <a:off x="7315200" y="3931920"/>
            <a:ext cx="1371600" cy="365760"/>
          </a:xfrm>
          <a:prstGeom prst="rect">
            <a:avLst/>
          </a:prstGeom>
          <a:noFill/>
        </p:spPr>
        <p:txBody>
          <a:bodyPr wrap="square">
            <a:spAutoFit/>
          </a:bodyPr>
          <a:lstStyle/>
          <a:p>
            <a:pPr algn="l">
              <a:defRPr sz="1500" b="0">
                <a:solidFill>
                  <a:srgbClr val="71717A"/>
                </a:solidFill>
                <a:latin typeface="Calibri"/>
              </a:defRPr>
            </a:pPr>
            <a:r>
              <a:t>2.7%</a:t>
            </a:r>
          </a:p>
        </p:txBody>
      </p:sp>
      <p:sp>
        <p:nvSpPr>
          <p:cNvPr id="32" name="TextBox 31"/>
          <p:cNvSpPr txBox="1"/>
          <p:nvPr/>
        </p:nvSpPr>
        <p:spPr>
          <a:xfrm>
            <a:off x="914400" y="4389120"/>
            <a:ext cx="1828800" cy="365760"/>
          </a:xfrm>
          <a:prstGeom prst="rect">
            <a:avLst/>
          </a:prstGeom>
          <a:noFill/>
        </p:spPr>
        <p:txBody>
          <a:bodyPr wrap="square">
            <a:spAutoFit/>
          </a:bodyPr>
          <a:lstStyle/>
          <a:p>
            <a:pPr algn="l">
              <a:defRPr sz="1500" b="1">
                <a:solidFill>
                  <a:srgbClr val="F87171"/>
                </a:solidFill>
                <a:latin typeface="Calibri"/>
              </a:defRPr>
            </a:pPr>
            <a:r>
              <a:t>CWE-89</a:t>
            </a:r>
          </a:p>
        </p:txBody>
      </p:sp>
      <p:sp>
        <p:nvSpPr>
          <p:cNvPr id="33" name="TextBox 32"/>
          <p:cNvSpPr txBox="1"/>
          <p:nvPr/>
        </p:nvSpPr>
        <p:spPr>
          <a:xfrm>
            <a:off x="2743200" y="4389120"/>
            <a:ext cx="2743200" cy="365760"/>
          </a:xfrm>
          <a:prstGeom prst="rect">
            <a:avLst/>
          </a:prstGeom>
          <a:noFill/>
        </p:spPr>
        <p:txBody>
          <a:bodyPr wrap="square">
            <a:spAutoFit/>
          </a:bodyPr>
          <a:lstStyle/>
          <a:p>
            <a:pPr algn="l">
              <a:defRPr sz="1500" b="0">
                <a:solidFill>
                  <a:srgbClr val="A1A1AA"/>
                </a:solidFill>
                <a:latin typeface="Calibri"/>
              </a:defRPr>
            </a:pPr>
            <a:r>
              <a:t>SQL Injection</a:t>
            </a:r>
          </a:p>
        </p:txBody>
      </p:sp>
      <p:sp>
        <p:nvSpPr>
          <p:cNvPr id="34" name="TextBox 33"/>
          <p:cNvSpPr txBox="1"/>
          <p:nvPr/>
        </p:nvSpPr>
        <p:spPr>
          <a:xfrm>
            <a:off x="5943600" y="4389120"/>
            <a:ext cx="1371600" cy="365760"/>
          </a:xfrm>
          <a:prstGeom prst="rect">
            <a:avLst/>
          </a:prstGeom>
          <a:noFill/>
        </p:spPr>
        <p:txBody>
          <a:bodyPr wrap="square">
            <a:spAutoFit/>
          </a:bodyPr>
          <a:lstStyle/>
          <a:p>
            <a:pPr algn="l">
              <a:defRPr sz="1500" b="1">
                <a:solidFill>
                  <a:srgbClr val="F4F4F5"/>
                </a:solidFill>
                <a:latin typeface="Calibri"/>
              </a:defRPr>
            </a:pPr>
            <a:r>
              <a:t>1</a:t>
            </a:r>
          </a:p>
        </p:txBody>
      </p:sp>
      <p:sp>
        <p:nvSpPr>
          <p:cNvPr id="35" name="TextBox 34"/>
          <p:cNvSpPr txBox="1"/>
          <p:nvPr/>
        </p:nvSpPr>
        <p:spPr>
          <a:xfrm>
            <a:off x="7315200" y="4389120"/>
            <a:ext cx="1371600" cy="365760"/>
          </a:xfrm>
          <a:prstGeom prst="rect">
            <a:avLst/>
          </a:prstGeom>
          <a:noFill/>
        </p:spPr>
        <p:txBody>
          <a:bodyPr wrap="square">
            <a:spAutoFit/>
          </a:bodyPr>
          <a:lstStyle/>
          <a:p>
            <a:pPr algn="l">
              <a:defRPr sz="1500" b="0">
                <a:solidFill>
                  <a:srgbClr val="71717A"/>
                </a:solidFill>
                <a:latin typeface="Calibri"/>
              </a:defRPr>
            </a:pPr>
            <a:r>
              <a:t>0.04%</a:t>
            </a:r>
          </a:p>
        </p:txBody>
      </p:sp>
      <p:sp>
        <p:nvSpPr>
          <p:cNvPr id="36" name="TextBox 35"/>
          <p:cNvSpPr txBox="1"/>
          <p:nvPr/>
        </p:nvSpPr>
        <p:spPr>
          <a:xfrm>
            <a:off x="914400" y="5303520"/>
            <a:ext cx="10058400" cy="457200"/>
          </a:xfrm>
          <a:prstGeom prst="rect">
            <a:avLst/>
          </a:prstGeom>
          <a:noFill/>
        </p:spPr>
        <p:txBody>
          <a:bodyPr wrap="square">
            <a:spAutoFit/>
          </a:bodyPr>
          <a:lstStyle/>
          <a:p>
            <a:pPr algn="l">
              <a:defRPr sz="1600" b="0">
                <a:solidFill>
                  <a:srgbClr val="FBBF24"/>
                </a:solidFill>
                <a:latin typeface="Calibri"/>
              </a:defRPr>
            </a:pPr>
            <a:r>
              <a:t>Key Insight: AI learned to avoid SQL injection (only 1 occurrence!) but systematically</a:t>
            </a:r>
          </a:p>
        </p:txBody>
      </p:sp>
      <p:sp>
        <p:nvSpPr>
          <p:cNvPr id="37" name="TextBox 36"/>
          <p:cNvSpPr txBox="1"/>
          <p:nvPr/>
        </p:nvSpPr>
        <p:spPr>
          <a:xfrm>
            <a:off x="914400" y="5669280"/>
            <a:ext cx="10058400" cy="457200"/>
          </a:xfrm>
          <a:prstGeom prst="rect">
            <a:avLst/>
          </a:prstGeom>
          <a:noFill/>
        </p:spPr>
        <p:txBody>
          <a:bodyPr wrap="square">
            <a:spAutoFit/>
          </a:bodyPr>
          <a:lstStyle/>
          <a:p>
            <a:pPr algn="l">
              <a:defRPr sz="1600" b="0">
                <a:solidFill>
                  <a:srgbClr val="FBBF24"/>
                </a:solidFill>
                <a:latin typeface="Calibri"/>
              </a:defRPr>
            </a:pPr>
            <a:r>
              <a:t>fails at security configuration — headers, CSRF, rate limiting, cookie flags.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Jordan</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Post-Exploitation: Safety Prompt Impact</a:t>
            </a:r>
          </a:p>
        </p:txBody>
      </p:sp>
      <p:sp>
        <p:nvSpPr>
          <p:cNvPr id="4" name="TextBox 3"/>
          <p:cNvSpPr txBox="1"/>
          <p:nvPr/>
        </p:nvSpPr>
        <p:spPr>
          <a:xfrm>
            <a:off x="914400" y="1097280"/>
            <a:ext cx="10058400" cy="457200"/>
          </a:xfrm>
          <a:prstGeom prst="rect">
            <a:avLst/>
          </a:prstGeom>
          <a:noFill/>
        </p:spPr>
        <p:txBody>
          <a:bodyPr wrap="square">
            <a:spAutoFit/>
          </a:bodyPr>
          <a:lstStyle/>
          <a:p>
            <a:pPr algn="l">
              <a:defRPr sz="1800" b="0">
                <a:solidFill>
                  <a:srgbClr val="FBBF24"/>
                </a:solidFill>
                <a:latin typeface="Calibri"/>
              </a:defRPr>
            </a:pPr>
            <a:r>
              <a:t>The single most important finding of our research</a:t>
            </a:r>
          </a:p>
        </p:txBody>
      </p:sp>
      <p:sp>
        <p:nvSpPr>
          <p:cNvPr id="5" name="Rounded Rectangle 4"/>
          <p:cNvSpPr/>
          <p:nvPr/>
        </p:nvSpPr>
        <p:spPr>
          <a:xfrm>
            <a:off x="914400" y="1828800"/>
            <a:ext cx="3200400" cy="201168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65960"/>
            <a:ext cx="2834640" cy="274320"/>
          </a:xfrm>
          <a:prstGeom prst="rect">
            <a:avLst/>
          </a:prstGeom>
          <a:noFill/>
        </p:spPr>
        <p:txBody>
          <a:bodyPr wrap="square">
            <a:spAutoFit/>
          </a:bodyPr>
          <a:lstStyle/>
          <a:p>
            <a:pPr algn="l">
              <a:defRPr sz="1000" b="0">
                <a:solidFill>
                  <a:srgbClr val="71717A"/>
                </a:solidFill>
                <a:latin typeface="Calibri"/>
              </a:defRPr>
            </a:pPr>
            <a:r>
              <a:t>NONE PROMPT</a:t>
            </a:r>
          </a:p>
        </p:txBody>
      </p:sp>
      <p:sp>
        <p:nvSpPr>
          <p:cNvPr id="7" name="TextBox 6"/>
          <p:cNvSpPr txBox="1"/>
          <p:nvPr/>
        </p:nvSpPr>
        <p:spPr>
          <a:xfrm>
            <a:off x="1097280" y="2240280"/>
            <a:ext cx="2834640" cy="457200"/>
          </a:xfrm>
          <a:prstGeom prst="rect">
            <a:avLst/>
          </a:prstGeom>
          <a:noFill/>
        </p:spPr>
        <p:txBody>
          <a:bodyPr wrap="square">
            <a:spAutoFit/>
          </a:bodyPr>
          <a:lstStyle/>
          <a:p>
            <a:pPr algn="l">
              <a:defRPr sz="2800" b="1">
                <a:solidFill>
                  <a:srgbClr val="F87171"/>
                </a:solidFill>
                <a:latin typeface="Calibri"/>
              </a:defRPr>
            </a:pPr>
            <a:r>
              <a:t>0.26%</a:t>
            </a:r>
          </a:p>
        </p:txBody>
      </p:sp>
      <p:sp>
        <p:nvSpPr>
          <p:cNvPr id="8" name="TextBox 7"/>
          <p:cNvSpPr txBox="1"/>
          <p:nvPr/>
        </p:nvSpPr>
        <p:spPr>
          <a:xfrm>
            <a:off x="1097280" y="2743200"/>
            <a:ext cx="2834640" cy="274320"/>
          </a:xfrm>
          <a:prstGeom prst="rect">
            <a:avLst/>
          </a:prstGeom>
          <a:noFill/>
        </p:spPr>
        <p:txBody>
          <a:bodyPr wrap="square">
            <a:spAutoFit/>
          </a:bodyPr>
          <a:lstStyle/>
          <a:p>
            <a:pPr algn="l">
              <a:defRPr sz="1000" b="0">
                <a:solidFill>
                  <a:srgbClr val="71717A"/>
                </a:solidFill>
                <a:latin typeface="Calibri"/>
              </a:defRPr>
            </a:pPr>
            <a:r>
              <a:t>sec_pass@1 — 4 secure apps</a:t>
            </a:r>
            <a:br/>
            <a:r>
              <a:t>0.5% Sec(Working)</a:t>
            </a:r>
            <a:br/>
            <a:r>
              <a:t>pass@1: 48.1%</a:t>
            </a:r>
          </a:p>
        </p:txBody>
      </p:sp>
      <p:sp>
        <p:nvSpPr>
          <p:cNvPr id="9" name="Rounded Rectangle 8"/>
          <p:cNvSpPr/>
          <p:nvPr/>
        </p:nvSpPr>
        <p:spPr>
          <a:xfrm>
            <a:off x="4572000" y="1828800"/>
            <a:ext cx="3200400" cy="201168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965960"/>
            <a:ext cx="2834640" cy="274320"/>
          </a:xfrm>
          <a:prstGeom prst="rect">
            <a:avLst/>
          </a:prstGeom>
          <a:noFill/>
        </p:spPr>
        <p:txBody>
          <a:bodyPr wrap="square">
            <a:spAutoFit/>
          </a:bodyPr>
          <a:lstStyle/>
          <a:p>
            <a:pPr algn="l">
              <a:defRPr sz="1000" b="0">
                <a:solidFill>
                  <a:srgbClr val="71717A"/>
                </a:solidFill>
                <a:latin typeface="Calibri"/>
              </a:defRPr>
            </a:pPr>
            <a:r>
              <a:t>GENERIC PROMPT</a:t>
            </a:r>
          </a:p>
        </p:txBody>
      </p:sp>
      <p:sp>
        <p:nvSpPr>
          <p:cNvPr id="11" name="TextBox 10"/>
          <p:cNvSpPr txBox="1"/>
          <p:nvPr/>
        </p:nvSpPr>
        <p:spPr>
          <a:xfrm>
            <a:off x="4754880" y="2240280"/>
            <a:ext cx="2834640" cy="457200"/>
          </a:xfrm>
          <a:prstGeom prst="rect">
            <a:avLst/>
          </a:prstGeom>
          <a:noFill/>
        </p:spPr>
        <p:txBody>
          <a:bodyPr wrap="square">
            <a:spAutoFit/>
          </a:bodyPr>
          <a:lstStyle/>
          <a:p>
            <a:pPr algn="l">
              <a:defRPr sz="2800" b="1">
                <a:solidFill>
                  <a:srgbClr val="F87171"/>
                </a:solidFill>
                <a:latin typeface="Calibri"/>
              </a:defRPr>
            </a:pPr>
            <a:r>
              <a:t>0.07%</a:t>
            </a:r>
          </a:p>
        </p:txBody>
      </p:sp>
      <p:sp>
        <p:nvSpPr>
          <p:cNvPr id="12" name="TextBox 11"/>
          <p:cNvSpPr txBox="1"/>
          <p:nvPr/>
        </p:nvSpPr>
        <p:spPr>
          <a:xfrm>
            <a:off x="4754880" y="2743200"/>
            <a:ext cx="2834640" cy="274320"/>
          </a:xfrm>
          <a:prstGeom prst="rect">
            <a:avLst/>
          </a:prstGeom>
          <a:noFill/>
        </p:spPr>
        <p:txBody>
          <a:bodyPr wrap="square">
            <a:spAutoFit/>
          </a:bodyPr>
          <a:lstStyle/>
          <a:p>
            <a:pPr algn="l">
              <a:defRPr sz="1000" b="0">
                <a:solidFill>
                  <a:srgbClr val="71717A"/>
                </a:solidFill>
                <a:latin typeface="Calibri"/>
              </a:defRPr>
            </a:pPr>
            <a:r>
              <a:t>sec_pass@1 — 1 secure app</a:t>
            </a:r>
            <a:br/>
            <a:r>
              <a:t>0.3% Sec(Working)</a:t>
            </a:r>
            <a:br/>
            <a:r>
              <a:t>pass@1: 23.0%</a:t>
            </a:r>
          </a:p>
        </p:txBody>
      </p:sp>
      <p:sp>
        <p:nvSpPr>
          <p:cNvPr id="13" name="Rounded Rectangle 12"/>
          <p:cNvSpPr/>
          <p:nvPr/>
        </p:nvSpPr>
        <p:spPr>
          <a:xfrm>
            <a:off x="8229600" y="1828800"/>
            <a:ext cx="3200400" cy="201168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965960"/>
            <a:ext cx="2834640" cy="274320"/>
          </a:xfrm>
          <a:prstGeom prst="rect">
            <a:avLst/>
          </a:prstGeom>
          <a:noFill/>
        </p:spPr>
        <p:txBody>
          <a:bodyPr wrap="square">
            <a:spAutoFit/>
          </a:bodyPr>
          <a:lstStyle/>
          <a:p>
            <a:pPr algn="l">
              <a:defRPr sz="1000" b="0">
                <a:solidFill>
                  <a:srgbClr val="71717A"/>
                </a:solidFill>
                <a:latin typeface="Calibri"/>
              </a:defRPr>
            </a:pPr>
            <a:r>
              <a:t>SPECIFIC PROMPT</a:t>
            </a:r>
          </a:p>
        </p:txBody>
      </p:sp>
      <p:sp>
        <p:nvSpPr>
          <p:cNvPr id="15" name="TextBox 14"/>
          <p:cNvSpPr txBox="1"/>
          <p:nvPr/>
        </p:nvSpPr>
        <p:spPr>
          <a:xfrm>
            <a:off x="8412480" y="2240280"/>
            <a:ext cx="2834640" cy="457200"/>
          </a:xfrm>
          <a:prstGeom prst="rect">
            <a:avLst/>
          </a:prstGeom>
          <a:noFill/>
        </p:spPr>
        <p:txBody>
          <a:bodyPr wrap="square">
            <a:spAutoFit/>
          </a:bodyPr>
          <a:lstStyle/>
          <a:p>
            <a:pPr algn="l">
              <a:defRPr sz="2800" b="1">
                <a:solidFill>
                  <a:srgbClr val="34D399"/>
                </a:solidFill>
                <a:latin typeface="Calibri"/>
              </a:defRPr>
            </a:pPr>
            <a:r>
              <a:t>9.73%</a:t>
            </a:r>
          </a:p>
        </p:txBody>
      </p:sp>
      <p:sp>
        <p:nvSpPr>
          <p:cNvPr id="16" name="TextBox 15"/>
          <p:cNvSpPr txBox="1"/>
          <p:nvPr/>
        </p:nvSpPr>
        <p:spPr>
          <a:xfrm>
            <a:off x="8412480" y="2743200"/>
            <a:ext cx="2834640" cy="274320"/>
          </a:xfrm>
          <a:prstGeom prst="rect">
            <a:avLst/>
          </a:prstGeom>
          <a:noFill/>
        </p:spPr>
        <p:txBody>
          <a:bodyPr wrap="square">
            <a:spAutoFit/>
          </a:bodyPr>
          <a:lstStyle/>
          <a:p>
            <a:pPr algn="l">
              <a:defRPr sz="1000" b="0">
                <a:solidFill>
                  <a:srgbClr val="71717A"/>
                </a:solidFill>
                <a:latin typeface="Calibri"/>
              </a:defRPr>
            </a:pPr>
            <a:r>
              <a:t>sec_pass@1 — 141 secure apps</a:t>
            </a:r>
            <a:br/>
            <a:r>
              <a:t>70.5% Sec(Working)</a:t>
            </a:r>
            <a:br/>
            <a:r>
              <a:t>pass@1: 13.8%</a:t>
            </a:r>
          </a:p>
        </p:txBody>
      </p:sp>
      <p:sp>
        <p:nvSpPr>
          <p:cNvPr id="17" name="TextBox 16"/>
          <p:cNvSpPr txBox="1"/>
          <p:nvPr/>
        </p:nvSpPr>
        <p:spPr>
          <a:xfrm>
            <a:off x="914400" y="4389120"/>
            <a:ext cx="10058400" cy="457200"/>
          </a:xfrm>
          <a:prstGeom prst="rect">
            <a:avLst/>
          </a:prstGeom>
          <a:noFill/>
        </p:spPr>
        <p:txBody>
          <a:bodyPr wrap="square">
            <a:spAutoFit/>
          </a:bodyPr>
          <a:lstStyle/>
          <a:p>
            <a:pPr algn="l">
              <a:defRPr sz="1800" b="1">
                <a:solidFill>
                  <a:srgbClr val="34D399"/>
                </a:solidFill>
                <a:latin typeface="Calibri"/>
              </a:defRPr>
            </a:pPr>
            <a:r>
              <a:t>Specific prompts: 37x improvement in sec_pass@1  |  141x improvement in Sec(Working)</a:t>
            </a:r>
          </a:p>
        </p:txBody>
      </p:sp>
      <p:sp>
        <p:nvSpPr>
          <p:cNvPr id="18" name="TextBox 17"/>
          <p:cNvSpPr txBox="1"/>
          <p:nvPr/>
        </p:nvSpPr>
        <p:spPr>
          <a:xfrm>
            <a:off x="914400" y="5029200"/>
            <a:ext cx="10058400" cy="457200"/>
          </a:xfrm>
          <a:prstGeom prst="rect">
            <a:avLst/>
          </a:prstGeom>
          <a:noFill/>
        </p:spPr>
        <p:txBody>
          <a:bodyPr wrap="square">
            <a:spAutoFit/>
          </a:bodyPr>
          <a:lstStyle/>
          <a:p>
            <a:pPr algn="l">
              <a:defRPr sz="1600" b="0">
                <a:solidFill>
                  <a:srgbClr val="F87171"/>
                </a:solidFill>
                <a:latin typeface="Calibri"/>
              </a:defRPr>
            </a:pPr>
            <a:r>
              <a:t>"Write secure code" (generic) is WORSE than no prompt — 0.07% vs 0.26%</a:t>
            </a:r>
          </a:p>
        </p:txBody>
      </p:sp>
      <p:sp>
        <p:nvSpPr>
          <p:cNvPr id="19" name="TextBox 18"/>
          <p:cNvSpPr txBox="1"/>
          <p:nvPr/>
        </p:nvSpPr>
        <p:spPr>
          <a:xfrm>
            <a:off x="914400" y="5486400"/>
            <a:ext cx="10058400" cy="457200"/>
          </a:xfrm>
          <a:prstGeom prst="rect">
            <a:avLst/>
          </a:prstGeom>
          <a:noFill/>
        </p:spPr>
        <p:txBody>
          <a:bodyPr wrap="square">
            <a:spAutoFit/>
          </a:bodyPr>
          <a:lstStyle/>
          <a:p>
            <a:pPr algn="l">
              <a:defRPr sz="1600" b="0">
                <a:solidFill>
                  <a:srgbClr val="A1A1AA"/>
                </a:solidFill>
                <a:latin typeface="Calibri"/>
              </a:defRPr>
            </a:pPr>
            <a:r>
              <a:t>141 of 146 total secure apps come from the specific prompt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Jordan</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Post-Exploitation: 3-Way Validation</a:t>
            </a:r>
          </a:p>
        </p:txBody>
      </p:sp>
      <p:sp>
        <p:nvSpPr>
          <p:cNvPr id="4" name="TextBox 3"/>
          <p:cNvSpPr txBox="1"/>
          <p:nvPr/>
        </p:nvSpPr>
        <p:spPr>
          <a:xfrm>
            <a:off x="914400" y="1371600"/>
            <a:ext cx="2743200" cy="274320"/>
          </a:xfrm>
          <a:prstGeom prst="rect">
            <a:avLst/>
          </a:prstGeom>
          <a:noFill/>
        </p:spPr>
        <p:txBody>
          <a:bodyPr wrap="square">
            <a:spAutoFit/>
          </a:bodyPr>
          <a:lstStyle/>
          <a:p>
            <a:pPr algn="l">
              <a:defRPr sz="1400" b="1">
                <a:solidFill>
                  <a:srgbClr val="71717A"/>
                </a:solidFill>
                <a:latin typeface="Calibri"/>
              </a:defRPr>
            </a:pPr>
            <a:r>
              <a:t>Vulnerability</a:t>
            </a:r>
          </a:p>
        </p:txBody>
      </p:sp>
      <p:sp>
        <p:nvSpPr>
          <p:cNvPr id="5" name="TextBox 4"/>
          <p:cNvSpPr txBox="1"/>
          <p:nvPr/>
        </p:nvSpPr>
        <p:spPr>
          <a:xfrm>
            <a:off x="4114800" y="1371600"/>
            <a:ext cx="1828800" cy="274320"/>
          </a:xfrm>
          <a:prstGeom prst="rect">
            <a:avLst/>
          </a:prstGeom>
          <a:noFill/>
        </p:spPr>
        <p:txBody>
          <a:bodyPr wrap="square">
            <a:spAutoFit/>
          </a:bodyPr>
          <a:lstStyle/>
          <a:p>
            <a:pPr algn="l">
              <a:defRPr sz="1400" b="1">
                <a:solidFill>
                  <a:srgbClr val="A78BFA"/>
                </a:solidFill>
                <a:latin typeface="Calibri"/>
              </a:defRPr>
            </a:pPr>
            <a:r>
              <a:t>CodeStrike</a:t>
            </a:r>
          </a:p>
        </p:txBody>
      </p:sp>
      <p:sp>
        <p:nvSpPr>
          <p:cNvPr id="6" name="TextBox 5"/>
          <p:cNvSpPr txBox="1"/>
          <p:nvPr/>
        </p:nvSpPr>
        <p:spPr>
          <a:xfrm>
            <a:off x="6400800" y="1371600"/>
            <a:ext cx="1828800" cy="274320"/>
          </a:xfrm>
          <a:prstGeom prst="rect">
            <a:avLst/>
          </a:prstGeom>
          <a:noFill/>
        </p:spPr>
        <p:txBody>
          <a:bodyPr wrap="square">
            <a:spAutoFit/>
          </a:bodyPr>
          <a:lstStyle/>
          <a:p>
            <a:pPr algn="l">
              <a:defRPr sz="1400" b="1">
                <a:solidFill>
                  <a:srgbClr val="FBBF24"/>
                </a:solidFill>
                <a:latin typeface="Calibri"/>
              </a:defRPr>
            </a:pPr>
            <a:r>
              <a:t>ZAP</a:t>
            </a:r>
          </a:p>
        </p:txBody>
      </p:sp>
      <p:sp>
        <p:nvSpPr>
          <p:cNvPr id="7" name="TextBox 6"/>
          <p:cNvSpPr txBox="1"/>
          <p:nvPr/>
        </p:nvSpPr>
        <p:spPr>
          <a:xfrm>
            <a:off x="8686800" y="1371600"/>
            <a:ext cx="1828800" cy="274320"/>
          </a:xfrm>
          <a:prstGeom prst="rect">
            <a:avLst/>
          </a:prstGeom>
          <a:noFill/>
        </p:spPr>
        <p:txBody>
          <a:bodyPr wrap="square">
            <a:spAutoFit/>
          </a:bodyPr>
          <a:lstStyle/>
          <a:p>
            <a:pPr algn="l">
              <a:defRPr sz="1400" b="1">
                <a:solidFill>
                  <a:srgbClr val="34D399"/>
                </a:solidFill>
                <a:latin typeface="Calibri"/>
              </a:defRPr>
            </a:pPr>
            <a:r>
              <a:t>Manual</a:t>
            </a:r>
          </a:p>
        </p:txBody>
      </p:sp>
      <p:sp>
        <p:nvSpPr>
          <p:cNvPr id="8" name="TextBox 7"/>
          <p:cNvSpPr txBox="1"/>
          <p:nvPr/>
        </p:nvSpPr>
        <p:spPr>
          <a:xfrm>
            <a:off x="914400" y="1828800"/>
            <a:ext cx="2743200" cy="365760"/>
          </a:xfrm>
          <a:prstGeom prst="rect">
            <a:avLst/>
          </a:prstGeom>
          <a:noFill/>
        </p:spPr>
        <p:txBody>
          <a:bodyPr wrap="square">
            <a:spAutoFit/>
          </a:bodyPr>
          <a:lstStyle/>
          <a:p>
            <a:pPr algn="l">
              <a:defRPr sz="1400" b="0">
                <a:solidFill>
                  <a:srgbClr val="A1A1AA"/>
                </a:solidFill>
                <a:latin typeface="Calibri"/>
              </a:defRPr>
            </a:pPr>
            <a:r>
              <a:t>Missing Headers</a:t>
            </a:r>
          </a:p>
        </p:txBody>
      </p:sp>
      <p:sp>
        <p:nvSpPr>
          <p:cNvPr id="9" name="TextBox 8"/>
          <p:cNvSpPr txBox="1"/>
          <p:nvPr/>
        </p:nvSpPr>
        <p:spPr>
          <a:xfrm>
            <a:off x="4114800" y="1828800"/>
            <a:ext cx="1828800" cy="365760"/>
          </a:xfrm>
          <a:prstGeom prst="rect">
            <a:avLst/>
          </a:prstGeom>
          <a:noFill/>
        </p:spPr>
        <p:txBody>
          <a:bodyPr wrap="square">
            <a:spAutoFit/>
          </a:bodyPr>
          <a:lstStyle/>
          <a:p>
            <a:pPr algn="l">
              <a:defRPr sz="1400" b="1">
                <a:solidFill>
                  <a:srgbClr val="34D399"/>
                </a:solidFill>
                <a:latin typeface="Calibri"/>
              </a:defRPr>
            </a:pPr>
            <a:r>
              <a:t>80%</a:t>
            </a:r>
          </a:p>
        </p:txBody>
      </p:sp>
      <p:sp>
        <p:nvSpPr>
          <p:cNvPr id="10" name="TextBox 9"/>
          <p:cNvSpPr txBox="1"/>
          <p:nvPr/>
        </p:nvSpPr>
        <p:spPr>
          <a:xfrm>
            <a:off x="6400800" y="182880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11" name="TextBox 10"/>
          <p:cNvSpPr txBox="1"/>
          <p:nvPr/>
        </p:nvSpPr>
        <p:spPr>
          <a:xfrm>
            <a:off x="8686800" y="182880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12" name="TextBox 11"/>
          <p:cNvSpPr txBox="1"/>
          <p:nvPr/>
        </p:nvSpPr>
        <p:spPr>
          <a:xfrm>
            <a:off x="914400" y="2240280"/>
            <a:ext cx="2743200" cy="365760"/>
          </a:xfrm>
          <a:prstGeom prst="rect">
            <a:avLst/>
          </a:prstGeom>
          <a:noFill/>
        </p:spPr>
        <p:txBody>
          <a:bodyPr wrap="square">
            <a:spAutoFit/>
          </a:bodyPr>
          <a:lstStyle/>
          <a:p>
            <a:pPr algn="l">
              <a:defRPr sz="1400" b="0">
                <a:solidFill>
                  <a:srgbClr val="A1A1AA"/>
                </a:solidFill>
                <a:latin typeface="Calibri"/>
              </a:defRPr>
            </a:pPr>
            <a:r>
              <a:t>CSRF</a:t>
            </a:r>
          </a:p>
        </p:txBody>
      </p:sp>
      <p:sp>
        <p:nvSpPr>
          <p:cNvPr id="13" name="TextBox 12"/>
          <p:cNvSpPr txBox="1"/>
          <p:nvPr/>
        </p:nvSpPr>
        <p:spPr>
          <a:xfrm>
            <a:off x="4114800" y="2240280"/>
            <a:ext cx="1828800" cy="365760"/>
          </a:xfrm>
          <a:prstGeom prst="rect">
            <a:avLst/>
          </a:prstGeom>
          <a:noFill/>
        </p:spPr>
        <p:txBody>
          <a:bodyPr wrap="square">
            <a:spAutoFit/>
          </a:bodyPr>
          <a:lstStyle/>
          <a:p>
            <a:pPr algn="l">
              <a:defRPr sz="1400" b="1">
                <a:solidFill>
                  <a:srgbClr val="34D399"/>
                </a:solidFill>
                <a:latin typeface="Calibri"/>
              </a:defRPr>
            </a:pPr>
            <a:r>
              <a:t>100%</a:t>
            </a:r>
          </a:p>
        </p:txBody>
      </p:sp>
      <p:sp>
        <p:nvSpPr>
          <p:cNvPr id="14" name="TextBox 13"/>
          <p:cNvSpPr txBox="1"/>
          <p:nvPr/>
        </p:nvSpPr>
        <p:spPr>
          <a:xfrm>
            <a:off x="6400800" y="2240280"/>
            <a:ext cx="1828800" cy="365760"/>
          </a:xfrm>
          <a:prstGeom prst="rect">
            <a:avLst/>
          </a:prstGeom>
          <a:noFill/>
        </p:spPr>
        <p:txBody>
          <a:bodyPr wrap="square">
            <a:spAutoFit/>
          </a:bodyPr>
          <a:lstStyle/>
          <a:p>
            <a:pPr algn="l">
              <a:defRPr sz="1400" b="0">
                <a:solidFill>
                  <a:srgbClr val="F87171"/>
                </a:solidFill>
                <a:latin typeface="Calibri"/>
              </a:defRPr>
            </a:pPr>
            <a:r>
              <a:t>Can't</a:t>
            </a:r>
          </a:p>
        </p:txBody>
      </p:sp>
      <p:sp>
        <p:nvSpPr>
          <p:cNvPr id="15" name="TextBox 14"/>
          <p:cNvSpPr txBox="1"/>
          <p:nvPr/>
        </p:nvSpPr>
        <p:spPr>
          <a:xfrm>
            <a:off x="8686800" y="224028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16" name="TextBox 15"/>
          <p:cNvSpPr txBox="1"/>
          <p:nvPr/>
        </p:nvSpPr>
        <p:spPr>
          <a:xfrm>
            <a:off x="914400" y="2651760"/>
            <a:ext cx="2743200" cy="365760"/>
          </a:xfrm>
          <a:prstGeom prst="rect">
            <a:avLst/>
          </a:prstGeom>
          <a:noFill/>
        </p:spPr>
        <p:txBody>
          <a:bodyPr wrap="square">
            <a:spAutoFit/>
          </a:bodyPr>
          <a:lstStyle/>
          <a:p>
            <a:pPr algn="l">
              <a:defRPr sz="1400" b="0">
                <a:solidFill>
                  <a:srgbClr val="A1A1AA"/>
                </a:solidFill>
                <a:latin typeface="Calibri"/>
              </a:defRPr>
            </a:pPr>
            <a:r>
              <a:t>Brute Force</a:t>
            </a:r>
          </a:p>
        </p:txBody>
      </p:sp>
      <p:sp>
        <p:nvSpPr>
          <p:cNvPr id="17" name="TextBox 16"/>
          <p:cNvSpPr txBox="1"/>
          <p:nvPr/>
        </p:nvSpPr>
        <p:spPr>
          <a:xfrm>
            <a:off x="4114800" y="2651760"/>
            <a:ext cx="1828800" cy="365760"/>
          </a:xfrm>
          <a:prstGeom prst="rect">
            <a:avLst/>
          </a:prstGeom>
          <a:noFill/>
        </p:spPr>
        <p:txBody>
          <a:bodyPr wrap="square">
            <a:spAutoFit/>
          </a:bodyPr>
          <a:lstStyle/>
          <a:p>
            <a:pPr algn="l">
              <a:defRPr sz="1400" b="1">
                <a:solidFill>
                  <a:srgbClr val="FBBF24"/>
                </a:solidFill>
                <a:latin typeface="Calibri"/>
              </a:defRPr>
            </a:pPr>
            <a:r>
              <a:t>25%</a:t>
            </a:r>
          </a:p>
        </p:txBody>
      </p:sp>
      <p:sp>
        <p:nvSpPr>
          <p:cNvPr id="18" name="TextBox 17"/>
          <p:cNvSpPr txBox="1"/>
          <p:nvPr/>
        </p:nvSpPr>
        <p:spPr>
          <a:xfrm>
            <a:off x="6400800" y="2651760"/>
            <a:ext cx="1828800" cy="365760"/>
          </a:xfrm>
          <a:prstGeom prst="rect">
            <a:avLst/>
          </a:prstGeom>
          <a:noFill/>
        </p:spPr>
        <p:txBody>
          <a:bodyPr wrap="square">
            <a:spAutoFit/>
          </a:bodyPr>
          <a:lstStyle/>
          <a:p>
            <a:pPr algn="l">
              <a:defRPr sz="1400" b="0">
                <a:solidFill>
                  <a:srgbClr val="F87171"/>
                </a:solidFill>
                <a:latin typeface="Calibri"/>
              </a:defRPr>
            </a:pPr>
            <a:r>
              <a:t>Can't</a:t>
            </a:r>
          </a:p>
        </p:txBody>
      </p:sp>
      <p:sp>
        <p:nvSpPr>
          <p:cNvPr id="19" name="TextBox 18"/>
          <p:cNvSpPr txBox="1"/>
          <p:nvPr/>
        </p:nvSpPr>
        <p:spPr>
          <a:xfrm>
            <a:off x="8686800" y="265176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20" name="TextBox 19"/>
          <p:cNvSpPr txBox="1"/>
          <p:nvPr/>
        </p:nvSpPr>
        <p:spPr>
          <a:xfrm>
            <a:off x="914400" y="3063240"/>
            <a:ext cx="2743200" cy="365760"/>
          </a:xfrm>
          <a:prstGeom prst="rect">
            <a:avLst/>
          </a:prstGeom>
          <a:noFill/>
        </p:spPr>
        <p:txBody>
          <a:bodyPr wrap="square">
            <a:spAutoFit/>
          </a:bodyPr>
          <a:lstStyle/>
          <a:p>
            <a:pPr algn="l">
              <a:defRPr sz="1400" b="0">
                <a:solidFill>
                  <a:srgbClr val="A1A1AA"/>
                </a:solidFill>
                <a:latin typeface="Calibri"/>
              </a:defRPr>
            </a:pPr>
            <a:r>
              <a:t>Hardcoded Secrets</a:t>
            </a:r>
          </a:p>
        </p:txBody>
      </p:sp>
      <p:sp>
        <p:nvSpPr>
          <p:cNvPr id="21" name="TextBox 20"/>
          <p:cNvSpPr txBox="1"/>
          <p:nvPr/>
        </p:nvSpPr>
        <p:spPr>
          <a:xfrm>
            <a:off x="4114800" y="3063240"/>
            <a:ext cx="1828800" cy="365760"/>
          </a:xfrm>
          <a:prstGeom prst="rect">
            <a:avLst/>
          </a:prstGeom>
          <a:noFill/>
        </p:spPr>
        <p:txBody>
          <a:bodyPr wrap="square">
            <a:spAutoFit/>
          </a:bodyPr>
          <a:lstStyle/>
          <a:p>
            <a:pPr algn="l">
              <a:defRPr sz="1400" b="1">
                <a:solidFill>
                  <a:srgbClr val="F87171"/>
                </a:solidFill>
                <a:latin typeface="Calibri"/>
              </a:defRPr>
            </a:pPr>
            <a:r>
              <a:t>0%</a:t>
            </a:r>
          </a:p>
        </p:txBody>
      </p:sp>
      <p:sp>
        <p:nvSpPr>
          <p:cNvPr id="22" name="TextBox 21"/>
          <p:cNvSpPr txBox="1"/>
          <p:nvPr/>
        </p:nvSpPr>
        <p:spPr>
          <a:xfrm>
            <a:off x="6400800" y="3063240"/>
            <a:ext cx="1828800" cy="365760"/>
          </a:xfrm>
          <a:prstGeom prst="rect">
            <a:avLst/>
          </a:prstGeom>
          <a:noFill/>
        </p:spPr>
        <p:txBody>
          <a:bodyPr wrap="square">
            <a:spAutoFit/>
          </a:bodyPr>
          <a:lstStyle/>
          <a:p>
            <a:pPr algn="l">
              <a:defRPr sz="1400" b="0">
                <a:solidFill>
                  <a:srgbClr val="F87171"/>
                </a:solidFill>
                <a:latin typeface="Calibri"/>
              </a:defRPr>
            </a:pPr>
            <a:r>
              <a:t>Can't</a:t>
            </a:r>
          </a:p>
        </p:txBody>
      </p:sp>
      <p:sp>
        <p:nvSpPr>
          <p:cNvPr id="23" name="TextBox 22"/>
          <p:cNvSpPr txBox="1"/>
          <p:nvPr/>
        </p:nvSpPr>
        <p:spPr>
          <a:xfrm>
            <a:off x="8686800" y="306324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24" name="TextBox 23"/>
          <p:cNvSpPr txBox="1"/>
          <p:nvPr/>
        </p:nvSpPr>
        <p:spPr>
          <a:xfrm>
            <a:off x="914400" y="3474720"/>
            <a:ext cx="2743200" cy="365760"/>
          </a:xfrm>
          <a:prstGeom prst="rect">
            <a:avLst/>
          </a:prstGeom>
          <a:noFill/>
        </p:spPr>
        <p:txBody>
          <a:bodyPr wrap="square">
            <a:spAutoFit/>
          </a:bodyPr>
          <a:lstStyle/>
          <a:p>
            <a:pPr algn="l">
              <a:defRPr sz="1400" b="0">
                <a:solidFill>
                  <a:srgbClr val="A1A1AA"/>
                </a:solidFill>
                <a:latin typeface="Calibri"/>
              </a:defRPr>
            </a:pPr>
            <a:r>
              <a:t>Access Control</a:t>
            </a:r>
          </a:p>
        </p:txBody>
      </p:sp>
      <p:sp>
        <p:nvSpPr>
          <p:cNvPr id="25" name="TextBox 24"/>
          <p:cNvSpPr txBox="1"/>
          <p:nvPr/>
        </p:nvSpPr>
        <p:spPr>
          <a:xfrm>
            <a:off x="4114800" y="3474720"/>
            <a:ext cx="1828800" cy="365760"/>
          </a:xfrm>
          <a:prstGeom prst="rect">
            <a:avLst/>
          </a:prstGeom>
          <a:noFill/>
        </p:spPr>
        <p:txBody>
          <a:bodyPr wrap="square">
            <a:spAutoFit/>
          </a:bodyPr>
          <a:lstStyle/>
          <a:p>
            <a:pPr algn="l">
              <a:defRPr sz="1400" b="1">
                <a:solidFill>
                  <a:srgbClr val="F87171"/>
                </a:solidFill>
                <a:latin typeface="Calibri"/>
              </a:defRPr>
            </a:pPr>
            <a:r>
              <a:t>0%</a:t>
            </a:r>
          </a:p>
        </p:txBody>
      </p:sp>
      <p:sp>
        <p:nvSpPr>
          <p:cNvPr id="26" name="TextBox 25"/>
          <p:cNvSpPr txBox="1"/>
          <p:nvPr/>
        </p:nvSpPr>
        <p:spPr>
          <a:xfrm>
            <a:off x="6400800" y="3474720"/>
            <a:ext cx="1828800" cy="365760"/>
          </a:xfrm>
          <a:prstGeom prst="rect">
            <a:avLst/>
          </a:prstGeom>
          <a:noFill/>
        </p:spPr>
        <p:txBody>
          <a:bodyPr wrap="square">
            <a:spAutoFit/>
          </a:bodyPr>
          <a:lstStyle/>
          <a:p>
            <a:pPr algn="l">
              <a:defRPr sz="1400" b="0">
                <a:solidFill>
                  <a:srgbClr val="F87171"/>
                </a:solidFill>
                <a:latin typeface="Calibri"/>
              </a:defRPr>
            </a:pPr>
            <a:r>
              <a:t>Can't</a:t>
            </a:r>
          </a:p>
        </p:txBody>
      </p:sp>
      <p:sp>
        <p:nvSpPr>
          <p:cNvPr id="27" name="TextBox 26"/>
          <p:cNvSpPr txBox="1"/>
          <p:nvPr/>
        </p:nvSpPr>
        <p:spPr>
          <a:xfrm>
            <a:off x="8686800" y="347472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28" name="TextBox 27"/>
          <p:cNvSpPr txBox="1"/>
          <p:nvPr/>
        </p:nvSpPr>
        <p:spPr>
          <a:xfrm>
            <a:off x="914400" y="3886200"/>
            <a:ext cx="2743200" cy="365760"/>
          </a:xfrm>
          <a:prstGeom prst="rect">
            <a:avLst/>
          </a:prstGeom>
          <a:noFill/>
        </p:spPr>
        <p:txBody>
          <a:bodyPr wrap="square">
            <a:spAutoFit/>
          </a:bodyPr>
          <a:lstStyle/>
          <a:p>
            <a:pPr algn="l">
              <a:defRPr sz="1400" b="0">
                <a:solidFill>
                  <a:srgbClr val="A1A1AA"/>
                </a:solidFill>
                <a:latin typeface="Calibri"/>
              </a:defRPr>
            </a:pPr>
            <a:r>
              <a:t>SSRF</a:t>
            </a:r>
          </a:p>
        </p:txBody>
      </p:sp>
      <p:sp>
        <p:nvSpPr>
          <p:cNvPr id="29" name="TextBox 28"/>
          <p:cNvSpPr txBox="1"/>
          <p:nvPr/>
        </p:nvSpPr>
        <p:spPr>
          <a:xfrm>
            <a:off x="4114800" y="3886200"/>
            <a:ext cx="1828800" cy="365760"/>
          </a:xfrm>
          <a:prstGeom prst="rect">
            <a:avLst/>
          </a:prstGeom>
          <a:noFill/>
        </p:spPr>
        <p:txBody>
          <a:bodyPr wrap="square">
            <a:spAutoFit/>
          </a:bodyPr>
          <a:lstStyle/>
          <a:p>
            <a:pPr algn="l">
              <a:defRPr sz="1400" b="1">
                <a:solidFill>
                  <a:srgbClr val="F87171"/>
                </a:solidFill>
                <a:latin typeface="Calibri"/>
              </a:defRPr>
            </a:pPr>
            <a:r>
              <a:t>0%</a:t>
            </a:r>
          </a:p>
        </p:txBody>
      </p:sp>
      <p:sp>
        <p:nvSpPr>
          <p:cNvPr id="30" name="TextBox 29"/>
          <p:cNvSpPr txBox="1"/>
          <p:nvPr/>
        </p:nvSpPr>
        <p:spPr>
          <a:xfrm>
            <a:off x="6400800" y="3886200"/>
            <a:ext cx="1828800" cy="365760"/>
          </a:xfrm>
          <a:prstGeom prst="rect">
            <a:avLst/>
          </a:prstGeom>
          <a:noFill/>
        </p:spPr>
        <p:txBody>
          <a:bodyPr wrap="square">
            <a:spAutoFit/>
          </a:bodyPr>
          <a:lstStyle/>
          <a:p>
            <a:pPr algn="l">
              <a:defRPr sz="1400" b="0">
                <a:solidFill>
                  <a:srgbClr val="F87171"/>
                </a:solidFill>
                <a:latin typeface="Calibri"/>
              </a:defRPr>
            </a:pPr>
            <a:r>
              <a:t>Can't</a:t>
            </a:r>
          </a:p>
        </p:txBody>
      </p:sp>
      <p:sp>
        <p:nvSpPr>
          <p:cNvPr id="31" name="TextBox 30"/>
          <p:cNvSpPr txBox="1"/>
          <p:nvPr/>
        </p:nvSpPr>
        <p:spPr>
          <a:xfrm>
            <a:off x="8686800" y="388620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32" name="TextBox 31"/>
          <p:cNvSpPr txBox="1"/>
          <p:nvPr/>
        </p:nvSpPr>
        <p:spPr>
          <a:xfrm>
            <a:off x="914400" y="4297680"/>
            <a:ext cx="2743200" cy="365760"/>
          </a:xfrm>
          <a:prstGeom prst="rect">
            <a:avLst/>
          </a:prstGeom>
          <a:noFill/>
        </p:spPr>
        <p:txBody>
          <a:bodyPr wrap="square">
            <a:spAutoFit/>
          </a:bodyPr>
          <a:lstStyle/>
          <a:p>
            <a:pPr algn="l">
              <a:defRPr sz="1400" b="0">
                <a:solidFill>
                  <a:srgbClr val="A1A1AA"/>
                </a:solidFill>
                <a:latin typeface="Calibri"/>
              </a:defRPr>
            </a:pPr>
            <a:r>
              <a:t>Business Logic</a:t>
            </a:r>
          </a:p>
        </p:txBody>
      </p:sp>
      <p:sp>
        <p:nvSpPr>
          <p:cNvPr id="33" name="TextBox 32"/>
          <p:cNvSpPr txBox="1"/>
          <p:nvPr/>
        </p:nvSpPr>
        <p:spPr>
          <a:xfrm>
            <a:off x="4114800" y="4297680"/>
            <a:ext cx="1828800" cy="365760"/>
          </a:xfrm>
          <a:prstGeom prst="rect">
            <a:avLst/>
          </a:prstGeom>
          <a:noFill/>
        </p:spPr>
        <p:txBody>
          <a:bodyPr wrap="square">
            <a:spAutoFit/>
          </a:bodyPr>
          <a:lstStyle/>
          <a:p>
            <a:pPr algn="l">
              <a:defRPr sz="1400" b="1">
                <a:solidFill>
                  <a:srgbClr val="F87171"/>
                </a:solidFill>
                <a:latin typeface="Calibri"/>
              </a:defRPr>
            </a:pPr>
            <a:r>
              <a:t>0%</a:t>
            </a:r>
          </a:p>
        </p:txBody>
      </p:sp>
      <p:sp>
        <p:nvSpPr>
          <p:cNvPr id="34" name="TextBox 33"/>
          <p:cNvSpPr txBox="1"/>
          <p:nvPr/>
        </p:nvSpPr>
        <p:spPr>
          <a:xfrm>
            <a:off x="6400800" y="4297680"/>
            <a:ext cx="1828800" cy="365760"/>
          </a:xfrm>
          <a:prstGeom prst="rect">
            <a:avLst/>
          </a:prstGeom>
          <a:noFill/>
        </p:spPr>
        <p:txBody>
          <a:bodyPr wrap="square">
            <a:spAutoFit/>
          </a:bodyPr>
          <a:lstStyle/>
          <a:p>
            <a:pPr algn="l">
              <a:defRPr sz="1400" b="0">
                <a:solidFill>
                  <a:srgbClr val="F87171"/>
                </a:solidFill>
                <a:latin typeface="Calibri"/>
              </a:defRPr>
            </a:pPr>
            <a:r>
              <a:t>Can't</a:t>
            </a:r>
          </a:p>
        </p:txBody>
      </p:sp>
      <p:sp>
        <p:nvSpPr>
          <p:cNvPr id="35" name="TextBox 34"/>
          <p:cNvSpPr txBox="1"/>
          <p:nvPr/>
        </p:nvSpPr>
        <p:spPr>
          <a:xfrm>
            <a:off x="8686800" y="4297680"/>
            <a:ext cx="1828800" cy="365760"/>
          </a:xfrm>
          <a:prstGeom prst="rect">
            <a:avLst/>
          </a:prstGeom>
          <a:noFill/>
        </p:spPr>
        <p:txBody>
          <a:bodyPr wrap="square">
            <a:spAutoFit/>
          </a:bodyPr>
          <a:lstStyle/>
          <a:p>
            <a:pPr algn="l">
              <a:defRPr sz="1400" b="0">
                <a:solidFill>
                  <a:srgbClr val="34D399"/>
                </a:solidFill>
                <a:latin typeface="Calibri"/>
              </a:defRPr>
            </a:pPr>
            <a:r>
              <a:t>Found</a:t>
            </a:r>
          </a:p>
        </p:txBody>
      </p:sp>
      <p:sp>
        <p:nvSpPr>
          <p:cNvPr id="36" name="TextBox 35"/>
          <p:cNvSpPr txBox="1"/>
          <p:nvPr/>
        </p:nvSpPr>
        <p:spPr>
          <a:xfrm>
            <a:off x="914400" y="5029200"/>
            <a:ext cx="4572000" cy="365760"/>
          </a:xfrm>
          <a:prstGeom prst="rect">
            <a:avLst/>
          </a:prstGeom>
          <a:noFill/>
        </p:spPr>
        <p:txBody>
          <a:bodyPr wrap="square">
            <a:spAutoFit/>
          </a:bodyPr>
          <a:lstStyle/>
          <a:p>
            <a:pPr algn="l">
              <a:defRPr sz="1600" b="1">
                <a:solidFill>
                  <a:srgbClr val="A78BFA"/>
                </a:solidFill>
                <a:latin typeface="Calibri"/>
              </a:defRPr>
            </a:pPr>
            <a:r>
              <a:t>CodeStrike: 100% precision, 27% recall</a:t>
            </a:r>
          </a:p>
        </p:txBody>
      </p:sp>
      <p:sp>
        <p:nvSpPr>
          <p:cNvPr id="37" name="TextBox 36"/>
          <p:cNvSpPr txBox="1"/>
          <p:nvPr/>
        </p:nvSpPr>
        <p:spPr>
          <a:xfrm>
            <a:off x="6400800" y="5029200"/>
            <a:ext cx="4572000" cy="365760"/>
          </a:xfrm>
          <a:prstGeom prst="rect">
            <a:avLst/>
          </a:prstGeom>
          <a:noFill/>
        </p:spPr>
        <p:txBody>
          <a:bodyPr wrap="square">
            <a:spAutoFit/>
          </a:bodyPr>
          <a:lstStyle/>
          <a:p>
            <a:pPr algn="l">
              <a:defRPr sz="1600" b="1">
                <a:solidFill>
                  <a:srgbClr val="FBBF24"/>
                </a:solidFill>
                <a:latin typeface="Calibri"/>
              </a:defRPr>
            </a:pPr>
            <a:r>
              <a:t>ZAP: 14.3% agreement</a:t>
            </a:r>
          </a:p>
        </p:txBody>
      </p:sp>
      <p:sp>
        <p:nvSpPr>
          <p:cNvPr id="38" name="TextBox 37"/>
          <p:cNvSpPr txBox="1"/>
          <p:nvPr/>
        </p:nvSpPr>
        <p:spPr>
          <a:xfrm>
            <a:off x="914400" y="5669280"/>
            <a:ext cx="10058400" cy="457200"/>
          </a:xfrm>
          <a:prstGeom prst="rect">
            <a:avLst/>
          </a:prstGeom>
          <a:noFill/>
        </p:spPr>
        <p:txBody>
          <a:bodyPr wrap="square">
            <a:spAutoFit/>
          </a:bodyPr>
          <a:lstStyle/>
          <a:p>
            <a:pPr algn="l">
              <a:defRPr sz="1500" b="0">
                <a:solidFill>
                  <a:srgbClr val="A1A1AA"/>
                </a:solidFill>
                <a:latin typeface="Calibri"/>
              </a:defRPr>
            </a:pPr>
            <a:r>
              <a:t>Why CodeStrike beats ZAP: it runs INSIDE Docker — can access DB, test rate limiting, understand auth logic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Jordan</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Critical Discovery: The 'Secure by Crash' Bug</a:t>
            </a:r>
          </a:p>
        </p:txBody>
      </p:sp>
      <p:sp>
        <p:nvSpPr>
          <p:cNvPr id="4" name="TextBox 3"/>
          <p:cNvSpPr txBox="1"/>
          <p:nvPr/>
        </p:nvSpPr>
        <p:spPr>
          <a:xfrm>
            <a:off x="914400" y="1371600"/>
            <a:ext cx="10058400" cy="457200"/>
          </a:xfrm>
          <a:prstGeom prst="rect">
            <a:avLst/>
          </a:prstGeom>
          <a:noFill/>
        </p:spPr>
        <p:txBody>
          <a:bodyPr wrap="square">
            <a:spAutoFit/>
          </a:bodyPr>
          <a:lstStyle/>
          <a:p>
            <a:pPr algn="l">
              <a:defRPr sz="1800" b="0">
                <a:solidFill>
                  <a:srgbClr val="F87171"/>
                </a:solidFill>
                <a:latin typeface="Calibri"/>
              </a:defRPr>
            </a:pPr>
            <a:r>
              <a:t>The original benchmark had a measurement bug that inflated security rates by 20x</a:t>
            </a:r>
          </a:p>
        </p:txBody>
      </p:sp>
      <p:sp>
        <p:nvSpPr>
          <p:cNvPr id="5" name="Rounded Rectangle 4"/>
          <p:cNvSpPr/>
          <p:nvPr/>
        </p:nvSpPr>
        <p:spPr>
          <a:xfrm>
            <a:off x="914400" y="2286000"/>
            <a:ext cx="4572000" cy="137160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423160"/>
            <a:ext cx="4206240" cy="274320"/>
          </a:xfrm>
          <a:prstGeom prst="rect">
            <a:avLst/>
          </a:prstGeom>
          <a:noFill/>
        </p:spPr>
        <p:txBody>
          <a:bodyPr wrap="square">
            <a:spAutoFit/>
          </a:bodyPr>
          <a:lstStyle/>
          <a:p>
            <a:pPr algn="l">
              <a:defRPr sz="1000" b="0">
                <a:solidFill>
                  <a:srgbClr val="71717A"/>
                </a:solidFill>
                <a:latin typeface="Calibri"/>
              </a:defRPr>
            </a:pPr>
            <a:r>
              <a:t>BEFORE (BUG)</a:t>
            </a:r>
          </a:p>
        </p:txBody>
      </p:sp>
      <p:sp>
        <p:nvSpPr>
          <p:cNvPr id="7" name="TextBox 6"/>
          <p:cNvSpPr txBox="1"/>
          <p:nvPr/>
        </p:nvSpPr>
        <p:spPr>
          <a:xfrm>
            <a:off x="1097280" y="2697480"/>
            <a:ext cx="4206240" cy="457200"/>
          </a:xfrm>
          <a:prstGeom prst="rect">
            <a:avLst/>
          </a:prstGeom>
          <a:noFill/>
        </p:spPr>
        <p:txBody>
          <a:bodyPr wrap="square">
            <a:spAutoFit/>
          </a:bodyPr>
          <a:lstStyle/>
          <a:p>
            <a:pPr algn="l">
              <a:defRPr sz="2800" b="1">
                <a:solidFill>
                  <a:srgbClr val="F87171"/>
                </a:solidFill>
                <a:latin typeface="Calibri"/>
              </a:defRPr>
            </a:pPr>
            <a:r>
              <a:t>~94%</a:t>
            </a:r>
          </a:p>
        </p:txBody>
      </p:sp>
      <p:sp>
        <p:nvSpPr>
          <p:cNvPr id="8" name="TextBox 7"/>
          <p:cNvSpPr txBox="1"/>
          <p:nvPr/>
        </p:nvSpPr>
        <p:spPr>
          <a:xfrm>
            <a:off x="1097280" y="3200400"/>
            <a:ext cx="4206240" cy="274320"/>
          </a:xfrm>
          <a:prstGeom prst="rect">
            <a:avLst/>
          </a:prstGeom>
          <a:noFill/>
        </p:spPr>
        <p:txBody>
          <a:bodyPr wrap="square">
            <a:spAutoFit/>
          </a:bodyPr>
          <a:lstStyle/>
          <a:p>
            <a:pPr algn="l">
              <a:defRPr sz="1000" b="0">
                <a:solidFill>
                  <a:srgbClr val="71717A"/>
                </a:solidFill>
                <a:latin typeface="Calibri"/>
              </a:defRPr>
            </a:pPr>
            <a:r>
              <a:t>sonnet-4.5-thinking sec_pass</a:t>
            </a:r>
            <a:br/>
            <a:r>
              <a:t>Crashed code counted as 'secure'</a:t>
            </a:r>
            <a:br/>
            <a:r>
              <a:t>because no CWEs were detected on broken code</a:t>
            </a:r>
          </a:p>
        </p:txBody>
      </p:sp>
      <p:sp>
        <p:nvSpPr>
          <p:cNvPr id="9" name="Rounded Rectangle 8"/>
          <p:cNvSpPr/>
          <p:nvPr/>
        </p:nvSpPr>
        <p:spPr>
          <a:xfrm>
            <a:off x="6400800" y="2286000"/>
            <a:ext cx="4572000" cy="1371600"/>
          </a:xfrm>
          <a:prstGeom prst="roundRect">
            <a:avLst/>
          </a:prstGeom>
          <a:solidFill>
            <a:srgbClr val="18181B"/>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423160"/>
            <a:ext cx="4206240" cy="274320"/>
          </a:xfrm>
          <a:prstGeom prst="rect">
            <a:avLst/>
          </a:prstGeom>
          <a:noFill/>
        </p:spPr>
        <p:txBody>
          <a:bodyPr wrap="square">
            <a:spAutoFit/>
          </a:bodyPr>
          <a:lstStyle/>
          <a:p>
            <a:pPr algn="l">
              <a:defRPr sz="1000" b="0">
                <a:solidFill>
                  <a:srgbClr val="71717A"/>
                </a:solidFill>
                <a:latin typeface="Calibri"/>
              </a:defRPr>
            </a:pPr>
            <a:r>
              <a:t>AFTER (FIXED)</a:t>
            </a:r>
          </a:p>
        </p:txBody>
      </p:sp>
      <p:sp>
        <p:nvSpPr>
          <p:cNvPr id="11" name="TextBox 10"/>
          <p:cNvSpPr txBox="1"/>
          <p:nvPr/>
        </p:nvSpPr>
        <p:spPr>
          <a:xfrm>
            <a:off x="6583680" y="2697480"/>
            <a:ext cx="4206240" cy="457200"/>
          </a:xfrm>
          <a:prstGeom prst="rect">
            <a:avLst/>
          </a:prstGeom>
          <a:noFill/>
        </p:spPr>
        <p:txBody>
          <a:bodyPr wrap="square">
            <a:spAutoFit/>
          </a:bodyPr>
          <a:lstStyle/>
          <a:p>
            <a:pPr algn="l">
              <a:defRPr sz="2800" b="1">
                <a:solidFill>
                  <a:srgbClr val="34D399"/>
                </a:solidFill>
                <a:latin typeface="Calibri"/>
              </a:defRPr>
            </a:pPr>
            <a:r>
              <a:t>4.4%</a:t>
            </a:r>
          </a:p>
        </p:txBody>
      </p:sp>
      <p:sp>
        <p:nvSpPr>
          <p:cNvPr id="12" name="TextBox 11"/>
          <p:cNvSpPr txBox="1"/>
          <p:nvPr/>
        </p:nvSpPr>
        <p:spPr>
          <a:xfrm>
            <a:off x="6583680" y="3200400"/>
            <a:ext cx="4206240" cy="274320"/>
          </a:xfrm>
          <a:prstGeom prst="rect">
            <a:avLst/>
          </a:prstGeom>
          <a:noFill/>
        </p:spPr>
        <p:txBody>
          <a:bodyPr wrap="square">
            <a:spAutoFit/>
          </a:bodyPr>
          <a:lstStyle/>
          <a:p>
            <a:pPr algn="l">
              <a:defRPr sz="1000" b="0">
                <a:solidFill>
                  <a:srgbClr val="71717A"/>
                </a:solidFill>
                <a:latin typeface="Calibri"/>
              </a:defRPr>
            </a:pPr>
            <a:r>
              <a:t>sonnet-4.5-thinking sec_pass</a:t>
            </a:r>
            <a:br/>
            <a:r>
              <a:t>Now requires functional_pass = true</a:t>
            </a:r>
            <a:br/>
            <a:r>
              <a:t>Crashed code is NOT secure</a:t>
            </a:r>
          </a:p>
        </p:txBody>
      </p:sp>
      <p:sp>
        <p:nvSpPr>
          <p:cNvPr id="13" name="TextBox 12"/>
          <p:cNvSpPr txBox="1"/>
          <p:nvPr/>
        </p:nvSpPr>
        <p:spPr>
          <a:xfrm>
            <a:off x="914400" y="4114800"/>
            <a:ext cx="10058400" cy="365760"/>
          </a:xfrm>
          <a:prstGeom prst="rect">
            <a:avLst/>
          </a:prstGeom>
          <a:noFill/>
        </p:spPr>
        <p:txBody>
          <a:bodyPr wrap="square">
            <a:spAutoFit/>
          </a:bodyPr>
          <a:lstStyle/>
          <a:p>
            <a:pPr algn="l">
              <a:defRPr sz="2000" b="1">
                <a:solidFill>
                  <a:srgbClr val="FBBF24"/>
                </a:solidFill>
                <a:latin typeface="Calibri"/>
              </a:defRPr>
            </a:pPr>
            <a:r>
              <a:t>Our Fix: Three Metrics</a:t>
            </a:r>
          </a:p>
        </p:txBody>
      </p:sp>
      <p:sp>
        <p:nvSpPr>
          <p:cNvPr id="14" name="TextBox 13"/>
          <p:cNvSpPr txBox="1"/>
          <p:nvPr/>
        </p:nvSpPr>
        <p:spPr>
          <a:xfrm>
            <a:off x="914400" y="4572000"/>
            <a:ext cx="10058400" cy="1828800"/>
          </a:xfrm>
          <a:prstGeom prst="rect">
            <a:avLst/>
          </a:prstGeom>
          <a:noFill/>
        </p:spPr>
        <p:txBody>
          <a:bodyPr wrap="square">
            <a:spAutoFit/>
          </a:bodyPr>
          <a:lstStyle/>
          <a:p>
            <a:pPr>
              <a:spcAft>
                <a:spcPts val="800"/>
              </a:spcAft>
              <a:defRPr sz="1600">
                <a:solidFill>
                  <a:srgbClr val="FBBF24"/>
                </a:solidFill>
                <a:latin typeface="Calibri"/>
              </a:defRPr>
            </a:pPr>
            <a:r>
              <a:t>sec_pass@1 (3.1%) = functional + zero CWEs / total tests</a:t>
            </a:r>
          </a:p>
          <a:p>
            <a:pPr>
              <a:spcAft>
                <a:spcPts val="800"/>
              </a:spcAft>
              <a:defRPr sz="1600">
                <a:solidFill>
                  <a:srgbClr val="34D399"/>
                </a:solidFill>
                <a:latin typeface="Calibri"/>
              </a:defRPr>
            </a:pPr>
            <a:r>
              <a:t>true_sec@1 (0.7%) = functional + zero CWEs + zero test crashes / total tests</a:t>
            </a:r>
          </a:p>
          <a:p>
            <a:pPr>
              <a:spcAft>
                <a:spcPts val="800"/>
              </a:spcAft>
              <a:defRPr sz="1600">
                <a:solidFill>
                  <a:srgbClr val="A78BFA"/>
                </a:solidFill>
                <a:latin typeface="Calibri"/>
              </a:defRPr>
            </a:pPr>
            <a:r>
              <a:t>Sec(Working) (11.3%) = zero CWEs / functional tests only — fairest comparison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[Member 4]</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Summary: Key Findings</a:t>
            </a:r>
          </a:p>
        </p:txBody>
      </p:sp>
      <p:sp>
        <p:nvSpPr>
          <p:cNvPr id="4" name="TextBox 3"/>
          <p:cNvSpPr txBox="1"/>
          <p:nvPr/>
        </p:nvSpPr>
        <p:spPr>
          <a:xfrm>
            <a:off x="914400" y="1188720"/>
            <a:ext cx="6400800" cy="320040"/>
          </a:xfrm>
          <a:prstGeom prst="rect">
            <a:avLst/>
          </a:prstGeom>
          <a:noFill/>
        </p:spPr>
        <p:txBody>
          <a:bodyPr wrap="square">
            <a:spAutoFit/>
          </a:bodyPr>
          <a:lstStyle/>
          <a:p>
            <a:pPr algn="l">
              <a:defRPr sz="1600" b="1">
                <a:solidFill>
                  <a:srgbClr val="F87171"/>
                </a:solidFill>
                <a:latin typeface="Calibri"/>
              </a:defRPr>
            </a:pPr>
            <a:r>
              <a:t>Less than 1% of AI code is truly secure</a:t>
            </a:r>
          </a:p>
        </p:txBody>
      </p:sp>
      <p:sp>
        <p:nvSpPr>
          <p:cNvPr id="5" name="TextBox 4"/>
          <p:cNvSpPr txBox="1"/>
          <p:nvPr/>
        </p:nvSpPr>
        <p:spPr>
          <a:xfrm>
            <a:off x="914400" y="1463040"/>
            <a:ext cx="6400800" cy="274320"/>
          </a:xfrm>
          <a:prstGeom prst="rect">
            <a:avLst/>
          </a:prstGeom>
          <a:noFill/>
        </p:spPr>
        <p:txBody>
          <a:bodyPr wrap="square">
            <a:spAutoFit/>
          </a:bodyPr>
          <a:lstStyle/>
          <a:p>
            <a:pPr algn="l">
              <a:defRPr sz="1200" b="0">
                <a:solidFill>
                  <a:srgbClr val="71717A"/>
                </a:solidFill>
                <a:latin typeface="Calibri"/>
              </a:defRPr>
            </a:pPr>
            <a:r>
              <a:t>true_sec@1 = 0.7% — 31 of 4,505 apps</a:t>
            </a:r>
          </a:p>
        </p:txBody>
      </p:sp>
      <p:sp>
        <p:nvSpPr>
          <p:cNvPr id="6" name="TextBox 5"/>
          <p:cNvSpPr txBox="1"/>
          <p:nvPr/>
        </p:nvSpPr>
        <p:spPr>
          <a:xfrm>
            <a:off x="914400" y="1828800"/>
            <a:ext cx="6400800" cy="320040"/>
          </a:xfrm>
          <a:prstGeom prst="rect">
            <a:avLst/>
          </a:prstGeom>
          <a:noFill/>
        </p:spPr>
        <p:txBody>
          <a:bodyPr wrap="square">
            <a:spAutoFit/>
          </a:bodyPr>
          <a:lstStyle/>
          <a:p>
            <a:pPr algn="l">
              <a:defRPr sz="1600" b="1">
                <a:solidFill>
                  <a:srgbClr val="F87171"/>
                </a:solidFill>
                <a:latin typeface="Calibri"/>
              </a:defRPr>
            </a:pPr>
            <a:r>
              <a:t>71.4% of AI code doesn't even work</a:t>
            </a:r>
          </a:p>
        </p:txBody>
      </p:sp>
      <p:sp>
        <p:nvSpPr>
          <p:cNvPr id="7" name="TextBox 6"/>
          <p:cNvSpPr txBox="1"/>
          <p:nvPr/>
        </p:nvSpPr>
        <p:spPr>
          <a:xfrm>
            <a:off x="914400" y="2103120"/>
            <a:ext cx="6400800" cy="274320"/>
          </a:xfrm>
          <a:prstGeom prst="rect">
            <a:avLst/>
          </a:prstGeom>
          <a:noFill/>
        </p:spPr>
        <p:txBody>
          <a:bodyPr wrap="square">
            <a:spAutoFit/>
          </a:bodyPr>
          <a:lstStyle/>
          <a:p>
            <a:pPr algn="l">
              <a:defRPr sz="1200" b="0">
                <a:solidFill>
                  <a:srgbClr val="71717A"/>
                </a:solidFill>
                <a:latin typeface="Calibri"/>
              </a:defRPr>
            </a:pPr>
            <a:r>
              <a:t>Code quality is the primary problem</a:t>
            </a:r>
          </a:p>
        </p:txBody>
      </p:sp>
      <p:sp>
        <p:nvSpPr>
          <p:cNvPr id="8" name="TextBox 7"/>
          <p:cNvSpPr txBox="1"/>
          <p:nvPr/>
        </p:nvSpPr>
        <p:spPr>
          <a:xfrm>
            <a:off x="914400" y="2468880"/>
            <a:ext cx="6400800" cy="320040"/>
          </a:xfrm>
          <a:prstGeom prst="rect">
            <a:avLst/>
          </a:prstGeom>
          <a:noFill/>
        </p:spPr>
        <p:txBody>
          <a:bodyPr wrap="square">
            <a:spAutoFit/>
          </a:bodyPr>
          <a:lstStyle/>
          <a:p>
            <a:pPr algn="l">
              <a:defRPr sz="1600" b="1">
                <a:solidFill>
                  <a:srgbClr val="34D399"/>
                </a:solidFill>
                <a:latin typeface="Calibri"/>
              </a:defRPr>
            </a:pPr>
            <a:r>
              <a:t>Safety prompts give 37-141x improvement</a:t>
            </a:r>
          </a:p>
        </p:txBody>
      </p:sp>
      <p:sp>
        <p:nvSpPr>
          <p:cNvPr id="9" name="TextBox 8"/>
          <p:cNvSpPr txBox="1"/>
          <p:nvPr/>
        </p:nvSpPr>
        <p:spPr>
          <a:xfrm>
            <a:off x="914400" y="2743200"/>
            <a:ext cx="6400800" cy="274320"/>
          </a:xfrm>
          <a:prstGeom prst="rect">
            <a:avLst/>
          </a:prstGeom>
          <a:noFill/>
        </p:spPr>
        <p:txBody>
          <a:bodyPr wrap="square">
            <a:spAutoFit/>
          </a:bodyPr>
          <a:lstStyle/>
          <a:p>
            <a:pPr algn="l">
              <a:defRPr sz="1200" b="0">
                <a:solidFill>
                  <a:srgbClr val="71717A"/>
                </a:solidFill>
                <a:latin typeface="Calibri"/>
              </a:defRPr>
            </a:pPr>
            <a:r>
              <a:t>0.26% -&gt; 9.73% sec_pass, 0.5% -&gt; 70.5% Sec(Working)</a:t>
            </a:r>
          </a:p>
        </p:txBody>
      </p:sp>
      <p:sp>
        <p:nvSpPr>
          <p:cNvPr id="10" name="TextBox 9"/>
          <p:cNvSpPr txBox="1"/>
          <p:nvPr/>
        </p:nvSpPr>
        <p:spPr>
          <a:xfrm>
            <a:off x="914400" y="3108959"/>
            <a:ext cx="6400800" cy="320040"/>
          </a:xfrm>
          <a:prstGeom prst="rect">
            <a:avLst/>
          </a:prstGeom>
          <a:noFill/>
        </p:spPr>
        <p:txBody>
          <a:bodyPr wrap="square">
            <a:spAutoFit/>
          </a:bodyPr>
          <a:lstStyle/>
          <a:p>
            <a:pPr algn="l">
              <a:defRPr sz="1600" b="1">
                <a:solidFill>
                  <a:srgbClr val="FBBF24"/>
                </a:solidFill>
                <a:latin typeface="Calibri"/>
              </a:defRPr>
            </a:pPr>
            <a:r>
              <a:t>'Write secure code' is useless</a:t>
            </a:r>
          </a:p>
        </p:txBody>
      </p:sp>
      <p:sp>
        <p:nvSpPr>
          <p:cNvPr id="11" name="TextBox 10"/>
          <p:cNvSpPr txBox="1"/>
          <p:nvPr/>
        </p:nvSpPr>
        <p:spPr>
          <a:xfrm>
            <a:off x="914400" y="3383279"/>
            <a:ext cx="6400800" cy="274320"/>
          </a:xfrm>
          <a:prstGeom prst="rect">
            <a:avLst/>
          </a:prstGeom>
          <a:noFill/>
        </p:spPr>
        <p:txBody>
          <a:bodyPr wrap="square">
            <a:spAutoFit/>
          </a:bodyPr>
          <a:lstStyle/>
          <a:p>
            <a:pPr algn="l">
              <a:defRPr sz="1200" b="0">
                <a:solidFill>
                  <a:srgbClr val="71717A"/>
                </a:solidFill>
                <a:latin typeface="Calibri"/>
              </a:defRPr>
            </a:pPr>
            <a:r>
              <a:t>Generic prompt: 0.07% — worse than no prompt</a:t>
            </a:r>
          </a:p>
        </p:txBody>
      </p:sp>
      <p:sp>
        <p:nvSpPr>
          <p:cNvPr id="12" name="TextBox 11"/>
          <p:cNvSpPr txBox="1"/>
          <p:nvPr/>
        </p:nvSpPr>
        <p:spPr>
          <a:xfrm>
            <a:off x="914400" y="3749039"/>
            <a:ext cx="6400800" cy="320040"/>
          </a:xfrm>
          <a:prstGeom prst="rect">
            <a:avLst/>
          </a:prstGeom>
          <a:noFill/>
        </p:spPr>
        <p:txBody>
          <a:bodyPr wrap="square">
            <a:spAutoFit/>
          </a:bodyPr>
          <a:lstStyle/>
          <a:p>
            <a:pPr algn="l">
              <a:defRPr sz="1600" b="1">
                <a:solidFill>
                  <a:srgbClr val="FBBF24"/>
                </a:solidFill>
                <a:latin typeface="Calibri"/>
              </a:defRPr>
            </a:pPr>
            <a:r>
              <a:t>Thinking mode doesn't help security</a:t>
            </a:r>
          </a:p>
        </p:txBody>
      </p:sp>
      <p:sp>
        <p:nvSpPr>
          <p:cNvPr id="13" name="TextBox 12"/>
          <p:cNvSpPr txBox="1"/>
          <p:nvPr/>
        </p:nvSpPr>
        <p:spPr>
          <a:xfrm>
            <a:off x="914400" y="4023359"/>
            <a:ext cx="6400800" cy="274320"/>
          </a:xfrm>
          <a:prstGeom prst="rect">
            <a:avLst/>
          </a:prstGeom>
          <a:noFill/>
        </p:spPr>
        <p:txBody>
          <a:bodyPr wrap="square">
            <a:spAutoFit/>
          </a:bodyPr>
          <a:lstStyle/>
          <a:p>
            <a:pPr algn="l">
              <a:defRPr sz="1200" b="0">
                <a:solidFill>
                  <a:srgbClr val="71717A"/>
                </a:solidFill>
                <a:latin typeface="Calibri"/>
              </a:defRPr>
            </a:pPr>
            <a:r>
              <a:t>+0.3 pp average — negligible improvement</a:t>
            </a:r>
          </a:p>
        </p:txBody>
      </p:sp>
      <p:sp>
        <p:nvSpPr>
          <p:cNvPr id="14" name="TextBox 13"/>
          <p:cNvSpPr txBox="1"/>
          <p:nvPr/>
        </p:nvSpPr>
        <p:spPr>
          <a:xfrm>
            <a:off x="914400" y="4389120"/>
            <a:ext cx="6400800" cy="320040"/>
          </a:xfrm>
          <a:prstGeom prst="rect">
            <a:avLst/>
          </a:prstGeom>
          <a:noFill/>
        </p:spPr>
        <p:txBody>
          <a:bodyPr wrap="square">
            <a:spAutoFit/>
          </a:bodyPr>
          <a:lstStyle/>
          <a:p>
            <a:pPr algn="l">
              <a:defRPr sz="1600" b="1">
                <a:solidFill>
                  <a:srgbClr val="60A5FA"/>
                </a:solidFill>
                <a:latin typeface="Calibri"/>
              </a:defRPr>
            </a:pPr>
            <a:r>
              <a:t>Express is the only safe framework</a:t>
            </a:r>
          </a:p>
        </p:txBody>
      </p:sp>
      <p:sp>
        <p:nvSpPr>
          <p:cNvPr id="15" name="TextBox 14"/>
          <p:cNvSpPr txBox="1"/>
          <p:nvPr/>
        </p:nvSpPr>
        <p:spPr>
          <a:xfrm>
            <a:off x="914400" y="4663440"/>
            <a:ext cx="6400800" cy="274320"/>
          </a:xfrm>
          <a:prstGeom prst="rect">
            <a:avLst/>
          </a:prstGeom>
          <a:noFill/>
        </p:spPr>
        <p:txBody>
          <a:bodyPr wrap="square">
            <a:spAutoFit/>
          </a:bodyPr>
          <a:lstStyle/>
          <a:p>
            <a:pPr algn="l">
              <a:defRPr sz="1200" b="0">
                <a:solidFill>
                  <a:srgbClr val="71717A"/>
                </a:solidFill>
                <a:latin typeface="Calibri"/>
              </a:defRPr>
            </a:pPr>
            <a:r>
              <a:t>144/146 secure apps — Flask 2, Go-Fiber 0</a:t>
            </a:r>
          </a:p>
        </p:txBody>
      </p:sp>
      <p:sp>
        <p:nvSpPr>
          <p:cNvPr id="16" name="TextBox 15"/>
          <p:cNvSpPr txBox="1"/>
          <p:nvPr/>
        </p:nvSpPr>
        <p:spPr>
          <a:xfrm>
            <a:off x="914400" y="5029199"/>
            <a:ext cx="6400800" cy="320040"/>
          </a:xfrm>
          <a:prstGeom prst="rect">
            <a:avLst/>
          </a:prstGeom>
          <a:noFill/>
        </p:spPr>
        <p:txBody>
          <a:bodyPr wrap="square">
            <a:spAutoFit/>
          </a:bodyPr>
          <a:lstStyle/>
          <a:p>
            <a:pPr algn="l">
              <a:defRPr sz="1600" b="1">
                <a:solidFill>
                  <a:srgbClr val="A78BFA"/>
                </a:solidFill>
                <a:latin typeface="Calibri"/>
              </a:defRPr>
            </a:pPr>
            <a:r>
              <a:t>AI avoids SQLi but fails at configuration</a:t>
            </a:r>
          </a:p>
        </p:txBody>
      </p:sp>
      <p:sp>
        <p:nvSpPr>
          <p:cNvPr id="17" name="TextBox 16"/>
          <p:cNvSpPr txBox="1"/>
          <p:nvPr/>
        </p:nvSpPr>
        <p:spPr>
          <a:xfrm>
            <a:off x="914400" y="5303519"/>
            <a:ext cx="6400800" cy="274320"/>
          </a:xfrm>
          <a:prstGeom prst="rect">
            <a:avLst/>
          </a:prstGeom>
          <a:noFill/>
        </p:spPr>
        <p:txBody>
          <a:bodyPr wrap="square">
            <a:spAutoFit/>
          </a:bodyPr>
          <a:lstStyle/>
          <a:p>
            <a:pPr algn="l">
              <a:defRPr sz="1200" b="0">
                <a:solidFill>
                  <a:srgbClr val="71717A"/>
                </a:solidFill>
                <a:latin typeface="Calibri"/>
              </a:defRPr>
            </a:pPr>
            <a:r>
              <a:t>1 SQLi vs 1,427 missing headers</a:t>
            </a:r>
          </a:p>
        </p:txBody>
      </p:sp>
      <p:sp>
        <p:nvSpPr>
          <p:cNvPr id="18" name="TextBox 17"/>
          <p:cNvSpPr txBox="1"/>
          <p:nvPr/>
        </p:nvSpPr>
        <p:spPr>
          <a:xfrm>
            <a:off x="914400" y="5669279"/>
            <a:ext cx="6400800" cy="320040"/>
          </a:xfrm>
          <a:prstGeom prst="rect">
            <a:avLst/>
          </a:prstGeom>
          <a:noFill/>
        </p:spPr>
        <p:txBody>
          <a:bodyPr wrap="square">
            <a:spAutoFit/>
          </a:bodyPr>
          <a:lstStyle/>
          <a:p>
            <a:pPr algn="l">
              <a:defRPr sz="1600" b="1">
                <a:solidFill>
                  <a:srgbClr val="F87171"/>
                </a:solidFill>
                <a:latin typeface="Calibri"/>
              </a:defRPr>
            </a:pPr>
            <a:r>
              <a:t>7/10 OWASP categories have findings</a:t>
            </a:r>
          </a:p>
        </p:txBody>
      </p:sp>
      <p:sp>
        <p:nvSpPr>
          <p:cNvPr id="19" name="TextBox 18"/>
          <p:cNvSpPr txBox="1"/>
          <p:nvPr/>
        </p:nvSpPr>
        <p:spPr>
          <a:xfrm>
            <a:off x="914400" y="5943599"/>
            <a:ext cx="6400800" cy="274320"/>
          </a:xfrm>
          <a:prstGeom prst="rect">
            <a:avLst/>
          </a:prstGeom>
          <a:noFill/>
        </p:spPr>
        <p:txBody>
          <a:bodyPr wrap="square">
            <a:spAutoFit/>
          </a:bodyPr>
          <a:lstStyle/>
          <a:p>
            <a:pPr algn="l">
              <a:defRPr sz="1200" b="0">
                <a:solidFill>
                  <a:srgbClr val="71717A"/>
                </a:solidFill>
                <a:latin typeface="Calibri"/>
              </a:defRPr>
            </a:pPr>
            <a:r>
              <a:t>Security Misconfiguration dominates (A05)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10515600" y="182880"/>
            <a:ext cx="1371600" cy="274320"/>
          </a:xfrm>
          <a:prstGeom prst="rect">
            <a:avLst/>
          </a:prstGeom>
          <a:noFill/>
        </p:spPr>
        <p:txBody>
          <a:bodyPr wrap="square">
            <a:spAutoFit/>
          </a:bodyPr>
          <a:lstStyle/>
          <a:p>
            <a:pPr algn="l">
              <a:defRPr sz="900" b="0">
                <a:solidFill>
                  <a:srgbClr val="2DD4BF"/>
                </a:solidFill>
                <a:latin typeface="Calibri"/>
              </a:defRPr>
            </a:pPr>
            <a:r>
              <a:t>Speaker: [Member 4]</a:t>
            </a:r>
          </a:p>
        </p:txBody>
      </p:sp>
      <p:sp>
        <p:nvSpPr>
          <p:cNvPr id="3" name="TextBox 2"/>
          <p:cNvSpPr txBox="1"/>
          <p:nvPr/>
        </p:nvSpPr>
        <p:spPr>
          <a:xfrm>
            <a:off x="914400" y="457200"/>
            <a:ext cx="10058400" cy="548640"/>
          </a:xfrm>
          <a:prstGeom prst="rect">
            <a:avLst/>
          </a:prstGeom>
          <a:noFill/>
        </p:spPr>
        <p:txBody>
          <a:bodyPr wrap="square">
            <a:spAutoFit/>
          </a:bodyPr>
          <a:lstStyle/>
          <a:p>
            <a:pPr algn="l">
              <a:defRPr sz="3600" b="1">
                <a:solidFill>
                  <a:srgbClr val="F4F4F5"/>
                </a:solidFill>
                <a:latin typeface="Calibri"/>
              </a:defRPr>
            </a:pPr>
            <a:r>
              <a:t>Recommendations &amp; Remediation</a:t>
            </a:r>
          </a:p>
        </p:txBody>
      </p:sp>
      <p:sp>
        <p:nvSpPr>
          <p:cNvPr id="4" name="TextBox 3"/>
          <p:cNvSpPr txBox="1"/>
          <p:nvPr/>
        </p:nvSpPr>
        <p:spPr>
          <a:xfrm>
            <a:off x="914400" y="1188720"/>
            <a:ext cx="5029200" cy="365760"/>
          </a:xfrm>
          <a:prstGeom prst="rect">
            <a:avLst/>
          </a:prstGeom>
          <a:noFill/>
        </p:spPr>
        <p:txBody>
          <a:bodyPr wrap="square">
            <a:spAutoFit/>
          </a:bodyPr>
          <a:lstStyle/>
          <a:p>
            <a:pPr algn="l">
              <a:defRPr sz="2000" b="1">
                <a:solidFill>
                  <a:srgbClr val="34D399"/>
                </a:solidFill>
                <a:latin typeface="Calibri"/>
              </a:defRPr>
            </a:pPr>
            <a:r>
              <a:t>For Developers Using AI Code</a:t>
            </a:r>
          </a:p>
        </p:txBody>
      </p:sp>
      <p:sp>
        <p:nvSpPr>
          <p:cNvPr id="5" name="TextBox 4"/>
          <p:cNvSpPr txBox="1"/>
          <p:nvPr/>
        </p:nvSpPr>
        <p:spPr>
          <a:xfrm>
            <a:off x="914400" y="1645920"/>
            <a:ext cx="5029200" cy="2560320"/>
          </a:xfrm>
          <a:prstGeom prst="rect">
            <a:avLst/>
          </a:prstGeom>
          <a:noFill/>
        </p:spPr>
        <p:txBody>
          <a:bodyPr wrap="square">
            <a:spAutoFit/>
          </a:bodyPr>
          <a:lstStyle/>
          <a:p>
            <a:pPr>
              <a:spcAft>
                <a:spcPts val="800"/>
              </a:spcAft>
              <a:defRPr sz="1500">
                <a:solidFill>
                  <a:srgbClr val="A1A1AA"/>
                </a:solidFill>
                <a:latin typeface="Calibri"/>
              </a:defRPr>
            </a:pPr>
            <a:r>
              <a:t>Always use specific safety prompts — list every security requirement explicitly</a:t>
            </a:r>
          </a:p>
          <a:p>
            <a:pPr>
              <a:spcAft>
                <a:spcPts val="800"/>
              </a:spcAft>
              <a:defRPr sz="1500">
                <a:solidFill>
                  <a:srgbClr val="A1A1AA"/>
                </a:solidFill>
                <a:latin typeface="Calibri"/>
              </a:defRPr>
            </a:pPr>
            <a:r>
              <a:t>Never trust AI code without security review</a:t>
            </a:r>
          </a:p>
          <a:p>
            <a:pPr>
              <a:spcAft>
                <a:spcPts val="800"/>
              </a:spcAft>
              <a:defRPr sz="1500">
                <a:solidFill>
                  <a:srgbClr val="A1A1AA"/>
                </a:solidFill>
                <a:latin typeface="Calibri"/>
              </a:defRPr>
            </a:pPr>
            <a:r>
              <a:t>Use Express/Node.js for best security outcomes</a:t>
            </a:r>
          </a:p>
          <a:p>
            <a:pPr>
              <a:spcAft>
                <a:spcPts val="800"/>
              </a:spcAft>
              <a:defRPr sz="1500">
                <a:solidFill>
                  <a:srgbClr val="A1A1AA"/>
                </a:solidFill>
                <a:latin typeface="Calibri"/>
              </a:defRPr>
            </a:pPr>
            <a:r>
              <a:t>Add security middleware (helmet.js, flask-talisman) to every project</a:t>
            </a:r>
          </a:p>
          <a:p>
            <a:pPr>
              <a:spcAft>
                <a:spcPts val="800"/>
              </a:spcAft>
              <a:defRPr sz="1500">
                <a:solidFill>
                  <a:srgbClr val="A1A1AA"/>
                </a:solidFill>
                <a:latin typeface="Calibri"/>
              </a:defRPr>
            </a:pPr>
            <a:r>
              <a:t>Implement rate limiting separately — AI never adds it</a:t>
            </a:r>
          </a:p>
          <a:p>
            <a:pPr>
              <a:spcAft>
                <a:spcPts val="800"/>
              </a:spcAft>
              <a:defRPr sz="1500">
                <a:solidFill>
                  <a:srgbClr val="A1A1AA"/>
                </a:solidFill>
                <a:latin typeface="Calibri"/>
              </a:defRPr>
            </a:pPr>
            <a:r>
              <a:t>Run automated security scanners (CodeStrike, ZAP) in CI/CD</a:t>
            </a:r>
          </a:p>
        </p:txBody>
      </p:sp>
      <p:sp>
        <p:nvSpPr>
          <p:cNvPr id="6" name="TextBox 5"/>
          <p:cNvSpPr txBox="1"/>
          <p:nvPr/>
        </p:nvSpPr>
        <p:spPr>
          <a:xfrm>
            <a:off x="6400800" y="1188720"/>
            <a:ext cx="5029200" cy="365760"/>
          </a:xfrm>
          <a:prstGeom prst="rect">
            <a:avLst/>
          </a:prstGeom>
          <a:noFill/>
        </p:spPr>
        <p:txBody>
          <a:bodyPr wrap="square">
            <a:spAutoFit/>
          </a:bodyPr>
          <a:lstStyle/>
          <a:p>
            <a:pPr algn="l">
              <a:defRPr sz="2000" b="1">
                <a:solidFill>
                  <a:srgbClr val="A78BFA"/>
                </a:solidFill>
                <a:latin typeface="Calibri"/>
              </a:defRPr>
            </a:pPr>
            <a:r>
              <a:t>For AI Model Providers</a:t>
            </a:r>
          </a:p>
        </p:txBody>
      </p:sp>
      <p:sp>
        <p:nvSpPr>
          <p:cNvPr id="7" name="TextBox 6"/>
          <p:cNvSpPr txBox="1"/>
          <p:nvPr/>
        </p:nvSpPr>
        <p:spPr>
          <a:xfrm>
            <a:off x="6400800" y="1645920"/>
            <a:ext cx="5029200" cy="2560320"/>
          </a:xfrm>
          <a:prstGeom prst="rect">
            <a:avLst/>
          </a:prstGeom>
          <a:noFill/>
        </p:spPr>
        <p:txBody>
          <a:bodyPr wrap="square">
            <a:spAutoFit/>
          </a:bodyPr>
          <a:lstStyle/>
          <a:p>
            <a:pPr>
              <a:spcAft>
                <a:spcPts val="800"/>
              </a:spcAft>
              <a:defRPr sz="1500">
                <a:solidFill>
                  <a:srgbClr val="A1A1AA"/>
                </a:solidFill>
                <a:latin typeface="Calibri"/>
              </a:defRPr>
            </a:pPr>
            <a:r>
              <a:t>Train models on security middleware patterns, not just secure coding</a:t>
            </a:r>
          </a:p>
          <a:p>
            <a:pPr>
              <a:spcAft>
                <a:spcPts val="800"/>
              </a:spcAft>
              <a:defRPr sz="1500">
                <a:solidFill>
                  <a:srgbClr val="A1A1AA"/>
                </a:solidFill>
                <a:latin typeface="Calibri"/>
              </a:defRPr>
            </a:pPr>
            <a:r>
              <a:t>Default to adding security headers in all generated web code</a:t>
            </a:r>
          </a:p>
          <a:p>
            <a:pPr>
              <a:spcAft>
                <a:spcPts val="800"/>
              </a:spcAft>
              <a:defRPr sz="1500">
                <a:solidFill>
                  <a:srgbClr val="A1A1AA"/>
                </a:solidFill>
                <a:latin typeface="Calibri"/>
              </a:defRPr>
            </a:pPr>
            <a:r>
              <a:t>Include CSRF protection by default in form-handling code</a:t>
            </a:r>
          </a:p>
          <a:p>
            <a:pPr>
              <a:spcAft>
                <a:spcPts val="800"/>
              </a:spcAft>
              <a:defRPr sz="1500">
                <a:solidFill>
                  <a:srgbClr val="A1A1AA"/>
                </a:solidFill>
                <a:latin typeface="Calibri"/>
              </a:defRPr>
            </a:pPr>
            <a:r>
              <a:t>Add rate limiting patterns to authentication code generation</a:t>
            </a:r>
          </a:p>
          <a:p>
            <a:pPr>
              <a:spcAft>
                <a:spcPts val="800"/>
              </a:spcAft>
              <a:defRPr sz="1500">
                <a:solidFill>
                  <a:srgbClr val="A1A1AA"/>
                </a:solidFill>
                <a:latin typeface="Calibri"/>
              </a:defRPr>
            </a:pPr>
            <a:r>
              <a:t>Improve Go/Python security training data (Express is 100x better)</a:t>
            </a:r>
          </a:p>
        </p:txBody>
      </p:sp>
      <p:sp>
        <p:nvSpPr>
          <p:cNvPr id="8" name="TextBox 7"/>
          <p:cNvSpPr txBox="1"/>
          <p:nvPr/>
        </p:nvSpPr>
        <p:spPr>
          <a:xfrm>
            <a:off x="914400" y="4572000"/>
            <a:ext cx="10058400" cy="365760"/>
          </a:xfrm>
          <a:prstGeom prst="rect">
            <a:avLst/>
          </a:prstGeom>
          <a:noFill/>
        </p:spPr>
        <p:txBody>
          <a:bodyPr wrap="square">
            <a:spAutoFit/>
          </a:bodyPr>
          <a:lstStyle/>
          <a:p>
            <a:pPr algn="l">
              <a:defRPr sz="2000" b="1">
                <a:solidFill>
                  <a:srgbClr val="FBBF24"/>
                </a:solidFill>
                <a:latin typeface="Calibri"/>
              </a:defRPr>
            </a:pPr>
            <a:r>
              <a:t>For Security Teams</a:t>
            </a:r>
          </a:p>
        </p:txBody>
      </p:sp>
      <p:sp>
        <p:nvSpPr>
          <p:cNvPr id="9" name="TextBox 8"/>
          <p:cNvSpPr txBox="1"/>
          <p:nvPr/>
        </p:nvSpPr>
        <p:spPr>
          <a:xfrm>
            <a:off x="914400" y="5029200"/>
            <a:ext cx="10058400" cy="1371600"/>
          </a:xfrm>
          <a:prstGeom prst="rect">
            <a:avLst/>
          </a:prstGeom>
          <a:noFill/>
        </p:spPr>
        <p:txBody>
          <a:bodyPr wrap="square">
            <a:spAutoFit/>
          </a:bodyPr>
          <a:lstStyle/>
          <a:p>
            <a:pPr>
              <a:spcAft>
                <a:spcPts val="800"/>
              </a:spcAft>
              <a:defRPr sz="1500">
                <a:solidFill>
                  <a:srgbClr val="A1A1AA"/>
                </a:solidFill>
                <a:latin typeface="Calibri"/>
              </a:defRPr>
            </a:pPr>
            <a:r>
              <a:t>Treat ALL AI-generated code as untrusted — same as third-party code</a:t>
            </a:r>
          </a:p>
          <a:p>
            <a:pPr>
              <a:spcAft>
                <a:spcPts val="800"/>
              </a:spcAft>
              <a:defRPr sz="1500">
                <a:solidFill>
                  <a:srgbClr val="A1A1AA"/>
                </a:solidFill>
                <a:latin typeface="Calibri"/>
              </a:defRPr>
            </a:pPr>
            <a:r>
              <a:t>Layer your testing: automated (CodeStrike) for scale + manual for depth + DAST (ZAP) for config</a:t>
            </a:r>
          </a:p>
          <a:p>
            <a:pPr>
              <a:spcAft>
                <a:spcPts val="800"/>
              </a:spcAft>
              <a:defRPr sz="1500">
                <a:solidFill>
                  <a:srgbClr val="A1A1AA"/>
                </a:solidFill>
                <a:latin typeface="Calibri"/>
              </a:defRPr>
            </a:pPr>
            <a:r>
              <a:t>Use true_sec@1, not sec_pass@1, to avoid the 'secure by crash' trap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914400" y="1828800"/>
            <a:ext cx="10058400" cy="1097280"/>
          </a:xfrm>
          <a:prstGeom prst="rect">
            <a:avLst/>
          </a:prstGeom>
          <a:noFill/>
        </p:spPr>
        <p:txBody>
          <a:bodyPr wrap="square">
            <a:spAutoFit/>
          </a:bodyPr>
          <a:lstStyle/>
          <a:p>
            <a:pPr algn="l">
              <a:defRPr sz="4800" b="1">
                <a:solidFill>
                  <a:srgbClr val="34D399"/>
                </a:solidFill>
                <a:latin typeface="Calibri"/>
              </a:defRPr>
            </a:pPr>
            <a:r>
              <a:t>Live Dashboard Demo</a:t>
            </a:r>
          </a:p>
        </p:txBody>
      </p:sp>
      <p:sp>
        <p:nvSpPr>
          <p:cNvPr id="3" name="TextBox 2"/>
          <p:cNvSpPr txBox="1"/>
          <p:nvPr/>
        </p:nvSpPr>
        <p:spPr>
          <a:xfrm>
            <a:off x="914400" y="3200400"/>
            <a:ext cx="10058400" cy="548640"/>
          </a:xfrm>
          <a:prstGeom prst="rect">
            <a:avLst/>
          </a:prstGeom>
          <a:noFill/>
        </p:spPr>
        <p:txBody>
          <a:bodyPr wrap="square">
            <a:spAutoFit/>
          </a:bodyPr>
          <a:lstStyle/>
          <a:p>
            <a:pPr algn="l">
              <a:defRPr sz="2400" b="0">
                <a:solidFill>
                  <a:srgbClr val="60A5FA"/>
                </a:solidFill>
                <a:latin typeface="Calibri"/>
              </a:defRPr>
            </a:pPr>
            <a:r>
              <a:t>dashboard-wheat-iota-87.vercel.app</a:t>
            </a:r>
          </a:p>
        </p:txBody>
      </p:sp>
      <p:sp>
        <p:nvSpPr>
          <p:cNvPr id="4" name="TextBox 3"/>
          <p:cNvSpPr txBox="1"/>
          <p:nvPr/>
        </p:nvSpPr>
        <p:spPr>
          <a:xfrm>
            <a:off x="914400" y="4114800"/>
            <a:ext cx="10058400" cy="457200"/>
          </a:xfrm>
          <a:prstGeom prst="rect">
            <a:avLst/>
          </a:prstGeom>
          <a:noFill/>
        </p:spPr>
        <p:txBody>
          <a:bodyPr wrap="square">
            <a:spAutoFit/>
          </a:bodyPr>
          <a:lstStyle/>
          <a:p>
            <a:pPr algn="l">
              <a:defRPr sz="1800" b="0">
                <a:solidFill>
                  <a:srgbClr val="A1A1AA"/>
                </a:solidFill>
                <a:latin typeface="Calibri"/>
              </a:defRPr>
            </a:pPr>
            <a:r>
              <a:t>5 Pages: Overview  |  Models  |  Vulnerabilities  |  Compare  |  Pentest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914400" y="1828800"/>
            <a:ext cx="10058400" cy="914400"/>
          </a:xfrm>
          <a:prstGeom prst="rect">
            <a:avLst/>
          </a:prstGeom>
          <a:noFill/>
        </p:spPr>
        <p:txBody>
          <a:bodyPr wrap="square">
            <a:spAutoFit/>
          </a:bodyPr>
          <a:lstStyle/>
          <a:p>
            <a:pPr algn="l">
              <a:defRPr sz="5200" b="1">
                <a:solidFill>
                  <a:srgbClr val="F4F4F5"/>
                </a:solidFill>
                <a:latin typeface="Calibri"/>
              </a:defRPr>
            </a:pPr>
            <a:r>
              <a:t>Thank You</a:t>
            </a:r>
          </a:p>
        </p:txBody>
      </p:sp>
      <p:sp>
        <p:nvSpPr>
          <p:cNvPr id="3" name="TextBox 2"/>
          <p:cNvSpPr txBox="1"/>
          <p:nvPr/>
        </p:nvSpPr>
        <p:spPr>
          <a:xfrm>
            <a:off x="914400" y="2926080"/>
            <a:ext cx="10058400" cy="457200"/>
          </a:xfrm>
          <a:prstGeom prst="rect">
            <a:avLst/>
          </a:prstGeom>
          <a:noFill/>
        </p:spPr>
        <p:txBody>
          <a:bodyPr wrap="square">
            <a:spAutoFit/>
          </a:bodyPr>
          <a:lstStyle/>
          <a:p>
            <a:pPr algn="l">
              <a:defRPr sz="2800" b="0">
                <a:solidFill>
                  <a:srgbClr val="34D399"/>
                </a:solidFill>
                <a:latin typeface="Calibri"/>
              </a:defRPr>
            </a:pPr>
            <a:r>
              <a:t>Questions?</a:t>
            </a:r>
          </a:p>
        </p:txBody>
      </p:sp>
      <p:sp>
        <p:nvSpPr>
          <p:cNvPr id="4" name="TextBox 3"/>
          <p:cNvSpPr txBox="1"/>
          <p:nvPr/>
        </p:nvSpPr>
        <p:spPr>
          <a:xfrm>
            <a:off x="914400" y="4114800"/>
            <a:ext cx="10058400" cy="365760"/>
          </a:xfrm>
          <a:prstGeom prst="rect">
            <a:avLst/>
          </a:prstGeom>
          <a:noFill/>
        </p:spPr>
        <p:txBody>
          <a:bodyPr wrap="square">
            <a:spAutoFit/>
          </a:bodyPr>
          <a:lstStyle/>
          <a:p>
            <a:pPr algn="l">
              <a:defRPr sz="1600" b="0">
                <a:solidFill>
                  <a:srgbClr val="60A5FA"/>
                </a:solidFill>
                <a:latin typeface="Calibri"/>
              </a:defRPr>
            </a:pPr>
            <a:r>
              <a:t>CodeStrike Security Dashboard: dashboard-wheat-iota-87.vercel.app</a:t>
            </a:r>
          </a:p>
        </p:txBody>
      </p:sp>
      <p:sp>
        <p:nvSpPr>
          <p:cNvPr id="5" name="TextBox 4"/>
          <p:cNvSpPr txBox="1"/>
          <p:nvPr/>
        </p:nvSpPr>
        <p:spPr>
          <a:xfrm>
            <a:off x="914400" y="4572000"/>
            <a:ext cx="10058400" cy="365760"/>
          </a:xfrm>
          <a:prstGeom prst="rect">
            <a:avLst/>
          </a:prstGeom>
          <a:noFill/>
        </p:spPr>
        <p:txBody>
          <a:bodyPr wrap="square">
            <a:spAutoFit/>
          </a:bodyPr>
          <a:lstStyle/>
          <a:p>
            <a:pPr algn="l">
              <a:defRPr sz="1600" b="0">
                <a:solidFill>
                  <a:srgbClr val="71717A"/>
                </a:solidFill>
                <a:latin typeface="Calibri"/>
              </a:defRPr>
            </a:pPr>
            <a:r>
              <a:t>GitHub: github.com/iyassh/baxbench-extended</a:t>
            </a:r>
          </a:p>
        </p:txBody>
      </p:sp>
      <p:sp>
        <p:nvSpPr>
          <p:cNvPr id="6" name="TextBox 5"/>
          <p:cNvSpPr txBox="1"/>
          <p:nvPr/>
        </p:nvSpPr>
        <p:spPr>
          <a:xfrm>
            <a:off x="914400" y="5029200"/>
            <a:ext cx="10058400" cy="365760"/>
          </a:xfrm>
          <a:prstGeom prst="rect">
            <a:avLst/>
          </a:prstGeom>
          <a:noFill/>
        </p:spPr>
        <p:txBody>
          <a:bodyPr wrap="square">
            <a:spAutoFit/>
          </a:bodyPr>
          <a:lstStyle/>
          <a:p>
            <a:pPr algn="l">
              <a:defRPr sz="1400" b="0">
                <a:solidFill>
                  <a:srgbClr val="71717A"/>
                </a:solidFill>
                <a:latin typeface="Calibri"/>
              </a:defRPr>
            </a:pPr>
            <a:r>
              <a:t>COMP 4210 Ethical Hacking  |  Group 8  |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